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I'm Nooha. Quick experiment before I say anything else.
[Point to the screen.] Here are four foods. Don't overthink it — in the next five seconds, pick the ONE you'd want right now, and raise your hand for it when I call it out.
[Pause 5 seconds. Then call each item and count hands.] Burger? Pizza? Salad? Dessert? … Interesting — no two rooms ever agree, and I promise none of you did any 'analysis.' You just knew.
So here's my question for the next few minutes: WHY did you choose that? That's what the psychology of food is all about — the hidden reasons behind 'I just felt like it.' Let's dig in.
[Delivery tip: keep energy high, smile, and don't rush the 5-second countdown — the silence builds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first reason we choose what we choose: our eyes get there first.
[Point to the two burgers.] Same burger — literally the same recipe. Quick show of hands: which one looks tastier, left or right? [Pause for hands — it'll be lopsided, play it up.] Right, of course — the one that's plated beautifully.
Here's what's wild: before you've tasted anything, your brain has already decided. You SEE it, you EXPECT it to taste amazing, and that expectation actually shapes how good it tastes. Colour, lighting, plating — all quietly setting you up. So half the battle in food is won before the fork even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menu — because the menu is quietly manipulating you, and honestly, it's brilliant.
[Point to the menu.] Look at these two. A 'Classic Burger' for twelve dollars. Or the 'Chef's Signature Fire-Grilled Beef Burger with caramelised onions and house sauce' for fifteen. Quick — which one are you ordering? [Pause for a show of hands — most pick the signature.]
Here's the punchline: it might be the exact same burger. Same beef. All that changed was the words, the layout, and how it's presented. Descriptive language makes us expect more, so we happily pay more. So next time a menu makes your mouth water… know that the menu did that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one is my favourite, because it's the most human. Food isn't just taste — it's memory.
A certain smell, and suddenly you're eight years old in your grandmother's kitchen. That's not an accident; food is wired straight to emotion and memory.
[Turn to the audience — pick one friendly face.] Can I get one person — what's a food that instantly reminds you of home or childhood? [Let them answer. React warmly — 'oh, that's a good one.' Maybe share a quick one-line example of your own.]
Notice nobody ever says 'the one with the best nutrition label.' We remember who we ate it with. That feeling is doing a lot of the choosing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zoom out. In just a few minutes we saw four forces quietly steering us:
We choose with our EYES — presentation sells before taste does.
We choose with our EXPECTATIONS — we taste what we assume we'll taste.
We choose with WORDS — 'fire-grilled' beats 'burger' every time.
And we choose with our HEARTS — memory and emotion pull the strongest of all.
[Pause. Slow down for the closer.] So here's my parting question: do WE choose food… or does food choose US? Honestly — it's a bit of both. The trick is just noticing the pull.
Thank you so much. And now the only question that really matters… what are you craving? [Smile — let them laugh —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566928"/>
            <a:ext cx="2743200" cy="457200"/>
          </a:xfrm>
          <a:prstGeom prst="roundRect">
            <a:avLst>
              <a:gd name="adj" fmla="val 50000"/>
            </a:avLst>
          </a:prstGeom>
          <a:solidFill>
            <a:srgbClr val="E8722C"/>
          </a:solidFill>
          <a:ln/>
        </p:spPr>
      </p:sp>
      <p:sp>
        <p:nvSpPr>
          <p:cNvPr id="4" name="Text 1"/>
          <p:cNvSpPr/>
          <p:nvPr/>
        </p:nvSpPr>
        <p:spPr>
          <a:xfrm>
            <a:off x="685800" y="566928"/>
            <a:ext cx="2743200" cy="457200"/>
          </a:xfrm>
          <a:prstGeom prst="rect">
            <a:avLst/>
          </a:prstGeom>
          <a:noFill/>
          <a:ln/>
        </p:spPr>
        <p:txBody>
          <a:bodyPr wrap="square" lIns="0" tIns="0" rIns="0" bIns="0" rtlCol="0" anchor="ctr"/>
          <a:lstStyle/>
          <a:p>
            <a:pPr algn="ctr" indent="0" marL="0">
              <a:buNone/>
            </a:pPr>
            <a:r>
              <a:rPr lang="en-US" sz="1300" b="1" spc="200" kern="0" dirty="0">
                <a:solidFill>
                  <a:srgbClr val="1C1109"/>
                </a:solidFill>
                <a:latin typeface="Montserrat" pitchFamily="34" charset="0"/>
                <a:ea typeface="Montserrat" pitchFamily="34" charset="-122"/>
                <a:cs typeface="Montserrat" pitchFamily="34" charset="-120"/>
              </a:rPr>
              <a:t>A MINI EXPERIMENT</a:t>
            </a:r>
            <a:endParaRPr lang="en-US" sz="1300" dirty="0"/>
          </a:p>
        </p:txBody>
      </p:sp>
      <p:sp>
        <p:nvSpPr>
          <p:cNvPr id="5" name="Text 2"/>
          <p:cNvSpPr/>
          <p:nvPr/>
        </p:nvSpPr>
        <p:spPr>
          <a:xfrm>
            <a:off x="640080" y="1234440"/>
            <a:ext cx="7680960" cy="914400"/>
          </a:xfrm>
          <a:prstGeom prst="rect">
            <a:avLst/>
          </a:prstGeom>
          <a:noFill/>
          <a:ln/>
        </p:spPr>
        <p:txBody>
          <a:bodyPr wrap="square" lIns="0" tIns="0" rIns="0" bIns="0" rtlCol="0" anchor="ctr"/>
          <a:lstStyle/>
          <a:p>
            <a:pPr indent="0" marL="0">
              <a:buNone/>
            </a:pPr>
            <a:r>
              <a:rPr lang="en-US" sz="5600" b="1" spc="100" kern="0" dirty="0">
                <a:solidFill>
                  <a:srgbClr val="FDF6EC"/>
                </a:solidFill>
                <a:latin typeface="Montserrat" pitchFamily="34" charset="0"/>
                <a:ea typeface="Montserrat" pitchFamily="34" charset="-122"/>
                <a:cs typeface="Montserrat" pitchFamily="34" charset="-120"/>
              </a:rPr>
              <a:t>THE PSYCHOLOGY</a:t>
            </a:r>
            <a:endParaRPr lang="en-US" sz="5600" dirty="0"/>
          </a:p>
        </p:txBody>
      </p:sp>
      <p:sp>
        <p:nvSpPr>
          <p:cNvPr id="6" name="Text 3"/>
          <p:cNvSpPr/>
          <p:nvPr/>
        </p:nvSpPr>
        <p:spPr>
          <a:xfrm>
            <a:off x="640080" y="2057400"/>
            <a:ext cx="7680960" cy="1005840"/>
          </a:xfrm>
          <a:prstGeom prst="rect">
            <a:avLst/>
          </a:prstGeom>
          <a:noFill/>
          <a:ln/>
        </p:spPr>
        <p:txBody>
          <a:bodyPr wrap="square" lIns="0" tIns="0" rIns="0" bIns="0" rtlCol="0" anchor="ctr"/>
          <a:lstStyle/>
          <a:p>
            <a:pPr indent="0" marL="0">
              <a:buNone/>
            </a:pPr>
            <a:r>
              <a:rPr lang="en-US" sz="7200" b="1" spc="100" kern="0" dirty="0">
                <a:solidFill>
                  <a:srgbClr val="E8722C"/>
                </a:solidFill>
                <a:latin typeface="Montserrat" pitchFamily="34" charset="0"/>
                <a:ea typeface="Montserrat" pitchFamily="34" charset="-122"/>
                <a:cs typeface="Montserrat" pitchFamily="34" charset="-120"/>
              </a:rPr>
              <a:t>OF FOOD</a:t>
            </a:r>
            <a:endParaRPr lang="en-US" sz="7200" dirty="0"/>
          </a:p>
        </p:txBody>
      </p:sp>
      <p:sp>
        <p:nvSpPr>
          <p:cNvPr id="7" name="Text 4"/>
          <p:cNvSpPr/>
          <p:nvPr/>
        </p:nvSpPr>
        <p:spPr>
          <a:xfrm>
            <a:off x="658368" y="3154680"/>
            <a:ext cx="7498080" cy="548640"/>
          </a:xfrm>
          <a:prstGeom prst="rect">
            <a:avLst/>
          </a:prstGeom>
          <a:noFill/>
          <a:ln/>
        </p:spPr>
        <p:txBody>
          <a:bodyPr wrap="square" lIns="0" tIns="0" rIns="0" bIns="0" rtlCol="0" anchor="ctr"/>
          <a:lstStyle/>
          <a:p>
            <a:pPr indent="0" marL="0">
              <a:buNone/>
            </a:pPr>
            <a:r>
              <a:rPr lang="en-US" sz="2400" i="1" dirty="0">
                <a:solidFill>
                  <a:srgbClr val="F0A868"/>
                </a:solidFill>
                <a:latin typeface="Calibri" pitchFamily="34" charset="0"/>
                <a:ea typeface="Calibri" pitchFamily="34" charset="-122"/>
                <a:cs typeface="Calibri" pitchFamily="34" charset="-120"/>
              </a:rPr>
              <a:t>Why do we choose what we choose?</a:t>
            </a:r>
            <a:endParaRPr lang="en-US" sz="2400" dirty="0"/>
          </a:p>
        </p:txBody>
      </p:sp>
      <p:sp>
        <p:nvSpPr>
          <p:cNvPr id="8" name="Text 5"/>
          <p:cNvSpPr/>
          <p:nvPr/>
        </p:nvSpPr>
        <p:spPr>
          <a:xfrm>
            <a:off x="658368" y="4069080"/>
            <a:ext cx="7498080" cy="731520"/>
          </a:xfrm>
          <a:prstGeom prst="rect">
            <a:avLst/>
          </a:prstGeom>
          <a:noFill/>
          <a:ln/>
        </p:spPr>
        <p:txBody>
          <a:bodyPr wrap="square" lIns="0" tIns="0" rIns="0" bIns="0" rtlCol="0" anchor="ctr"/>
          <a:lstStyle/>
          <a:p>
            <a:pPr indent="0" marL="0">
              <a:buNone/>
            </a:pPr>
            <a:r>
              <a:rPr lang="en-US" sz="3300" b="1" dirty="0">
                <a:solidFill>
                  <a:srgbClr val="FDF6EC"/>
                </a:solidFill>
                <a:latin typeface="Montserrat" pitchFamily="34" charset="0"/>
                <a:ea typeface="Montserrat" pitchFamily="34" charset="-122"/>
                <a:cs typeface="Montserrat" pitchFamily="34" charset="-120"/>
              </a:rPr>
              <a:t>WHAT WOULD YOU CHOOSE?</a:t>
            </a:r>
            <a:endParaRPr lang="en-US" sz="3300" dirty="0"/>
          </a:p>
        </p:txBody>
      </p:sp>
      <p:sp>
        <p:nvSpPr>
          <p:cNvPr id="9" name="Text 6"/>
          <p:cNvSpPr/>
          <p:nvPr/>
        </p:nvSpPr>
        <p:spPr>
          <a:xfrm>
            <a:off x="685800" y="4754880"/>
            <a:ext cx="7315200" cy="457200"/>
          </a:xfrm>
          <a:prstGeom prst="rect">
            <a:avLst/>
          </a:prstGeom>
          <a:noFill/>
          <a:ln/>
        </p:spPr>
        <p:txBody>
          <a:bodyPr wrap="square" lIns="0" tIns="0" rIns="0" bIns="0" rtlCol="0" anchor="ctr"/>
          <a:lstStyle/>
          <a:p>
            <a:pPr indent="0" marL="0">
              <a:buNone/>
            </a:pPr>
            <a:r>
              <a:rPr lang="en-US" sz="1800" dirty="0">
                <a:solidFill>
                  <a:srgbClr val="F0A868"/>
                </a:solidFill>
                <a:latin typeface="Calibri" pitchFamily="34" charset="0"/>
                <a:ea typeface="Calibri" pitchFamily="34" charset="-122"/>
                <a:cs typeface="Calibri" pitchFamily="34" charset="-120"/>
              </a:rPr>
              <a:t>You have 5 seconds. Pick one. 👆</a:t>
            </a:r>
            <a:endParaRPr lang="en-US" sz="1800" dirty="0"/>
          </a:p>
        </p:txBody>
      </p:sp>
      <p:sp>
        <p:nvSpPr>
          <p:cNvPr id="10" name="Text 7"/>
          <p:cNvSpPr/>
          <p:nvPr/>
        </p:nvSpPr>
        <p:spPr>
          <a:xfrm>
            <a:off x="685800" y="5989320"/>
            <a:ext cx="5486400" cy="411480"/>
          </a:xfrm>
          <a:prstGeom prst="rect">
            <a:avLst/>
          </a:prstGeom>
          <a:noFill/>
          <a:ln/>
        </p:spPr>
        <p:txBody>
          <a:bodyPr wrap="square" lIns="0" tIns="0" rIns="0" bIns="0" rtlCol="0" anchor="ctr"/>
          <a:lstStyle/>
          <a:p>
            <a:pPr indent="0" marL="0">
              <a:buNone/>
            </a:pPr>
            <a:r>
              <a:rPr lang="en-US" sz="1600" dirty="0">
                <a:solidFill>
                  <a:srgbClr val="C9AE97"/>
                </a:solidFill>
                <a:latin typeface="Calibri" pitchFamily="34" charset="0"/>
                <a:ea typeface="Calibri" pitchFamily="34" charset="-122"/>
                <a:cs typeface="Calibri" pitchFamily="34" charset="-120"/>
              </a:rPr>
              <a:t>Presented by Nooha Iflal</a:t>
            </a:r>
            <a:endParaRPr lang="en-US" sz="1600" dirty="0"/>
          </a:p>
        </p:txBody>
      </p:sp>
      <p:pic>
        <p:nvPicPr>
          <p:cNvPr id="11" name="Image 0" descr="/home/user/Wristworkswebsite/presentation/p1_burger.png">    </p:cNvPr>
          <p:cNvPicPr>
            <a:picLocks noChangeAspect="1"/>
          </p:cNvPicPr>
          <p:nvPr/>
        </p:nvPicPr>
        <p:blipFill>
          <a:blip r:embed="rId2"/>
          <a:stretch>
            <a:fillRect/>
          </a:stretch>
        </p:blipFill>
        <p:spPr>
          <a:xfrm>
            <a:off x="8503920" y="868680"/>
            <a:ext cx="1691640" cy="1828800"/>
          </a:xfrm>
          <a:prstGeom prst="rect">
            <a:avLst/>
          </a:prstGeom>
          <a:effectLst>
            <a:outerShdw sx="100000" sy="100000" kx="0" ky="0" algn="bl" rotWithShape="0" blurRad="177800" dist="76200" dir="5400000">
              <a:srgbClr val="1C1109">
                <a:alpha val="50000"/>
              </a:srgbClr>
            </a:outerShdw>
          </a:effectLst>
        </p:spPr>
      </p:pic>
      <p:sp>
        <p:nvSpPr>
          <p:cNvPr id="12" name="Shape 8"/>
          <p:cNvSpPr/>
          <p:nvPr/>
        </p:nvSpPr>
        <p:spPr>
          <a:xfrm>
            <a:off x="8737092" y="2221992"/>
            <a:ext cx="1225296" cy="365760"/>
          </a:xfrm>
          <a:prstGeom prst="roundRect">
            <a:avLst>
              <a:gd name="adj" fmla="val 50000"/>
            </a:avLst>
          </a:prstGeom>
          <a:solidFill>
            <a:srgbClr val="E8722C"/>
          </a:solidFill>
          <a:ln/>
        </p:spPr>
      </p:sp>
      <p:sp>
        <p:nvSpPr>
          <p:cNvPr id="13" name="Text 9"/>
          <p:cNvSpPr/>
          <p:nvPr/>
        </p:nvSpPr>
        <p:spPr>
          <a:xfrm>
            <a:off x="8737092" y="2221992"/>
            <a:ext cx="1225296" cy="365760"/>
          </a:xfrm>
          <a:prstGeom prst="rect">
            <a:avLst/>
          </a:prstGeom>
          <a:noFill/>
          <a:ln/>
        </p:spPr>
        <p:txBody>
          <a:bodyPr wrap="square" lIns="0" tIns="0" rIns="0" bIns="0" rtlCol="0" anchor="ctr"/>
          <a:lstStyle/>
          <a:p>
            <a:pPr algn="ctr" indent="0" marL="0">
              <a:buNone/>
            </a:pPr>
            <a:r>
              <a:rPr lang="en-US" sz="1200" b="1" spc="100" kern="0" dirty="0">
                <a:solidFill>
                  <a:srgbClr val="1C1109"/>
                </a:solidFill>
                <a:latin typeface="Montserrat" pitchFamily="34" charset="0"/>
                <a:ea typeface="Montserrat" pitchFamily="34" charset="-122"/>
                <a:cs typeface="Montserrat" pitchFamily="34" charset="-120"/>
              </a:rPr>
              <a:t>BURGER</a:t>
            </a:r>
            <a:endParaRPr lang="en-US" sz="1200" dirty="0"/>
          </a:p>
        </p:txBody>
      </p:sp>
      <p:pic>
        <p:nvPicPr>
          <p:cNvPr id="14" name="Image 1" descr="/home/user/Wristworkswebsite/presentation/p1_pizza.png">    </p:cNvPr>
          <p:cNvPicPr>
            <a:picLocks noChangeAspect="1"/>
          </p:cNvPicPr>
          <p:nvPr/>
        </p:nvPicPr>
        <p:blipFill>
          <a:blip r:embed="rId3"/>
          <a:stretch>
            <a:fillRect/>
          </a:stretch>
        </p:blipFill>
        <p:spPr>
          <a:xfrm>
            <a:off x="10396728" y="868680"/>
            <a:ext cx="1691640" cy="1828800"/>
          </a:xfrm>
          <a:prstGeom prst="rect">
            <a:avLst/>
          </a:prstGeom>
          <a:effectLst>
            <a:outerShdw sx="100000" sy="100000" kx="0" ky="0" algn="bl" rotWithShape="0" blurRad="177800" dist="76200" dir="5400000">
              <a:srgbClr val="1C1109">
                <a:alpha val="50000"/>
              </a:srgbClr>
            </a:outerShdw>
          </a:effectLst>
        </p:spPr>
      </p:pic>
      <p:sp>
        <p:nvSpPr>
          <p:cNvPr id="15" name="Shape 10"/>
          <p:cNvSpPr/>
          <p:nvPr/>
        </p:nvSpPr>
        <p:spPr>
          <a:xfrm>
            <a:off x="10693908" y="2221992"/>
            <a:ext cx="1097280" cy="365760"/>
          </a:xfrm>
          <a:prstGeom prst="roundRect">
            <a:avLst>
              <a:gd name="adj" fmla="val 50000"/>
            </a:avLst>
          </a:prstGeom>
          <a:solidFill>
            <a:srgbClr val="E8722C"/>
          </a:solidFill>
          <a:ln/>
        </p:spPr>
      </p:sp>
      <p:sp>
        <p:nvSpPr>
          <p:cNvPr id="16" name="Text 11"/>
          <p:cNvSpPr/>
          <p:nvPr/>
        </p:nvSpPr>
        <p:spPr>
          <a:xfrm>
            <a:off x="10693908" y="2221992"/>
            <a:ext cx="1097280" cy="365760"/>
          </a:xfrm>
          <a:prstGeom prst="rect">
            <a:avLst/>
          </a:prstGeom>
          <a:noFill/>
          <a:ln/>
        </p:spPr>
        <p:txBody>
          <a:bodyPr wrap="square" lIns="0" tIns="0" rIns="0" bIns="0" rtlCol="0" anchor="ctr"/>
          <a:lstStyle/>
          <a:p>
            <a:pPr algn="ctr" indent="0" marL="0">
              <a:buNone/>
            </a:pPr>
            <a:r>
              <a:rPr lang="en-US" sz="1200" b="1" spc="100" kern="0" dirty="0">
                <a:solidFill>
                  <a:srgbClr val="1C1109"/>
                </a:solidFill>
                <a:latin typeface="Montserrat" pitchFamily="34" charset="0"/>
                <a:ea typeface="Montserrat" pitchFamily="34" charset="-122"/>
                <a:cs typeface="Montserrat" pitchFamily="34" charset="-120"/>
              </a:rPr>
              <a:t>PIZZA</a:t>
            </a:r>
            <a:endParaRPr lang="en-US" sz="1200" dirty="0"/>
          </a:p>
        </p:txBody>
      </p:sp>
      <p:pic>
        <p:nvPicPr>
          <p:cNvPr id="17" name="Image 2" descr="/home/user/Wristworkswebsite/presentation/p1_salad.png">    </p:cNvPr>
          <p:cNvPicPr>
            <a:picLocks noChangeAspect="1"/>
          </p:cNvPicPr>
          <p:nvPr/>
        </p:nvPicPr>
        <p:blipFill>
          <a:blip r:embed="rId4"/>
          <a:stretch>
            <a:fillRect/>
          </a:stretch>
        </p:blipFill>
        <p:spPr>
          <a:xfrm>
            <a:off x="8503920" y="2898648"/>
            <a:ext cx="1691640" cy="1828800"/>
          </a:xfrm>
          <a:prstGeom prst="rect">
            <a:avLst/>
          </a:prstGeom>
          <a:effectLst>
            <a:outerShdw sx="100000" sy="100000" kx="0" ky="0" algn="bl" rotWithShape="0" blurRad="177800" dist="76200" dir="5400000">
              <a:srgbClr val="1C1109">
                <a:alpha val="50000"/>
              </a:srgbClr>
            </a:outerShdw>
          </a:effectLst>
        </p:spPr>
      </p:pic>
      <p:sp>
        <p:nvSpPr>
          <p:cNvPr id="18" name="Shape 12"/>
          <p:cNvSpPr/>
          <p:nvPr/>
        </p:nvSpPr>
        <p:spPr>
          <a:xfrm>
            <a:off x="8801100" y="4251960"/>
            <a:ext cx="1097280" cy="365760"/>
          </a:xfrm>
          <a:prstGeom prst="roundRect">
            <a:avLst>
              <a:gd name="adj" fmla="val 50000"/>
            </a:avLst>
          </a:prstGeom>
          <a:solidFill>
            <a:srgbClr val="E8722C"/>
          </a:solidFill>
          <a:ln/>
        </p:spPr>
      </p:sp>
      <p:sp>
        <p:nvSpPr>
          <p:cNvPr id="19" name="Text 13"/>
          <p:cNvSpPr/>
          <p:nvPr/>
        </p:nvSpPr>
        <p:spPr>
          <a:xfrm>
            <a:off x="8801100" y="4251960"/>
            <a:ext cx="1097280" cy="365760"/>
          </a:xfrm>
          <a:prstGeom prst="rect">
            <a:avLst/>
          </a:prstGeom>
          <a:noFill/>
          <a:ln/>
        </p:spPr>
        <p:txBody>
          <a:bodyPr wrap="square" lIns="0" tIns="0" rIns="0" bIns="0" rtlCol="0" anchor="ctr"/>
          <a:lstStyle/>
          <a:p>
            <a:pPr algn="ctr" indent="0" marL="0">
              <a:buNone/>
            </a:pPr>
            <a:r>
              <a:rPr lang="en-US" sz="1200" b="1" spc="100" kern="0" dirty="0">
                <a:solidFill>
                  <a:srgbClr val="1C1109"/>
                </a:solidFill>
                <a:latin typeface="Montserrat" pitchFamily="34" charset="0"/>
                <a:ea typeface="Montserrat" pitchFamily="34" charset="-122"/>
                <a:cs typeface="Montserrat" pitchFamily="34" charset="-120"/>
              </a:rPr>
              <a:t>SALAD</a:t>
            </a:r>
            <a:endParaRPr lang="en-US" sz="1200" dirty="0"/>
          </a:p>
        </p:txBody>
      </p:sp>
      <p:pic>
        <p:nvPicPr>
          <p:cNvPr id="20" name="Image 3" descr="/home/user/Wristworkswebsite/presentation/p1_dessert.png">    </p:cNvPr>
          <p:cNvPicPr>
            <a:picLocks noChangeAspect="1"/>
          </p:cNvPicPr>
          <p:nvPr/>
        </p:nvPicPr>
        <p:blipFill>
          <a:blip r:embed="rId5"/>
          <a:stretch>
            <a:fillRect/>
          </a:stretch>
        </p:blipFill>
        <p:spPr>
          <a:xfrm>
            <a:off x="10396728" y="2898648"/>
            <a:ext cx="1691640" cy="1828800"/>
          </a:xfrm>
          <a:prstGeom prst="rect">
            <a:avLst/>
          </a:prstGeom>
          <a:effectLst>
            <a:outerShdw sx="100000" sy="100000" kx="0" ky="0" algn="bl" rotWithShape="0" blurRad="177800" dist="76200" dir="5400000">
              <a:srgbClr val="1C1109">
                <a:alpha val="50000"/>
              </a:srgbClr>
            </a:outerShdw>
          </a:effectLst>
        </p:spPr>
      </p:pic>
      <p:sp>
        <p:nvSpPr>
          <p:cNvPr id="21" name="Shape 14"/>
          <p:cNvSpPr/>
          <p:nvPr/>
        </p:nvSpPr>
        <p:spPr>
          <a:xfrm>
            <a:off x="10565892" y="4251960"/>
            <a:ext cx="1353312" cy="365760"/>
          </a:xfrm>
          <a:prstGeom prst="roundRect">
            <a:avLst>
              <a:gd name="adj" fmla="val 50000"/>
            </a:avLst>
          </a:prstGeom>
          <a:solidFill>
            <a:srgbClr val="E8722C"/>
          </a:solidFill>
          <a:ln/>
        </p:spPr>
      </p:sp>
      <p:sp>
        <p:nvSpPr>
          <p:cNvPr id="22" name="Text 15"/>
          <p:cNvSpPr/>
          <p:nvPr/>
        </p:nvSpPr>
        <p:spPr>
          <a:xfrm>
            <a:off x="10565892" y="4251960"/>
            <a:ext cx="1353312" cy="365760"/>
          </a:xfrm>
          <a:prstGeom prst="rect">
            <a:avLst/>
          </a:prstGeom>
          <a:noFill/>
          <a:ln/>
        </p:spPr>
        <p:txBody>
          <a:bodyPr wrap="square" lIns="0" tIns="0" rIns="0" bIns="0" rtlCol="0" anchor="ctr"/>
          <a:lstStyle/>
          <a:p>
            <a:pPr algn="ctr" indent="0" marL="0">
              <a:buNone/>
            </a:pPr>
            <a:r>
              <a:rPr lang="en-US" sz="1200" b="1" spc="100" kern="0" dirty="0">
                <a:solidFill>
                  <a:srgbClr val="1C1109"/>
                </a:solidFill>
                <a:latin typeface="Montserrat" pitchFamily="34" charset="0"/>
                <a:ea typeface="Montserrat" pitchFamily="34" charset="-122"/>
                <a:cs typeface="Montserrat" pitchFamily="34" charset="-120"/>
              </a:rPr>
              <a:t>DESSERT</a:t>
            </a:r>
            <a:endParaRPr lang="en-US" sz="1200" dirty="0"/>
          </a:p>
        </p:txBody>
      </p:sp>
      <p:sp>
        <p:nvSpPr>
          <p:cNvPr id="23" name="Text 16"/>
          <p:cNvSpPr/>
          <p:nvPr/>
        </p:nvSpPr>
        <p:spPr>
          <a:xfrm>
            <a:off x="8503920" y="4837176"/>
            <a:ext cx="3584448" cy="457200"/>
          </a:xfrm>
          <a:prstGeom prst="rect">
            <a:avLst/>
          </a:prstGeom>
          <a:noFill/>
          <a:ln/>
        </p:spPr>
        <p:txBody>
          <a:bodyPr wrap="square" lIns="0" tIns="0" rIns="0" bIns="0" rtlCol="0" anchor="ctr"/>
          <a:lstStyle/>
          <a:p>
            <a:pPr algn="ctr" indent="0" marL="0">
              <a:buNone/>
            </a:pPr>
            <a:r>
              <a:rPr lang="en-US" sz="1600" i="1" dirty="0">
                <a:solidFill>
                  <a:srgbClr val="FDF6EC"/>
                </a:solidFill>
                <a:latin typeface="Calibri" pitchFamily="34" charset="0"/>
                <a:ea typeface="Calibri" pitchFamily="34" charset="-122"/>
                <a:cs typeface="Calibri" pitchFamily="34" charset="-120"/>
              </a:rPr>
              <a:t>Raise your hand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548640"/>
            <a:ext cx="2468880" cy="457200"/>
          </a:xfrm>
          <a:prstGeom prst="roundRect">
            <a:avLst>
              <a:gd name="adj" fmla="val 50000"/>
            </a:avLst>
          </a:prstGeom>
          <a:solidFill>
            <a:srgbClr val="2B1B14"/>
          </a:solidFill>
          <a:ln/>
        </p:spPr>
      </p:sp>
      <p:sp>
        <p:nvSpPr>
          <p:cNvPr id="4" name="Text 1"/>
          <p:cNvSpPr/>
          <p:nvPr/>
        </p:nvSpPr>
        <p:spPr>
          <a:xfrm>
            <a:off x="685800" y="548640"/>
            <a:ext cx="2468880" cy="457200"/>
          </a:xfrm>
          <a:prstGeom prst="rect">
            <a:avLst/>
          </a:prstGeom>
          <a:noFill/>
          <a:ln/>
        </p:spPr>
        <p:txBody>
          <a:bodyPr wrap="square" lIns="0" tIns="0" rIns="0" bIns="0" rtlCol="0" anchor="ctr"/>
          <a:lstStyle/>
          <a:p>
            <a:pPr algn="ctr" indent="0" marL="0">
              <a:buNone/>
            </a:pPr>
            <a:r>
              <a:rPr lang="en-US" sz="1300" b="1" spc="200" kern="0" dirty="0">
                <a:solidFill>
                  <a:srgbClr val="FDF6EC"/>
                </a:solidFill>
                <a:latin typeface="Montserrat" pitchFamily="34" charset="0"/>
                <a:ea typeface="Montserrat" pitchFamily="34" charset="-122"/>
                <a:cs typeface="Montserrat" pitchFamily="34" charset="-120"/>
              </a:rPr>
              <a:t>01 · PERCEPTION</a:t>
            </a:r>
            <a:endParaRPr lang="en-US" sz="1300" dirty="0"/>
          </a:p>
        </p:txBody>
      </p:sp>
      <p:sp>
        <p:nvSpPr>
          <p:cNvPr id="5" name="Text 2"/>
          <p:cNvSpPr/>
          <p:nvPr/>
        </p:nvSpPr>
        <p:spPr>
          <a:xfrm>
            <a:off x="640080" y="1051560"/>
            <a:ext cx="10972800" cy="822960"/>
          </a:xfrm>
          <a:prstGeom prst="rect">
            <a:avLst/>
          </a:prstGeom>
          <a:noFill/>
          <a:ln/>
        </p:spPr>
        <p:txBody>
          <a:bodyPr wrap="square" lIns="0" tIns="0" rIns="0" bIns="0" rtlCol="0" anchor="ctr"/>
          <a:lstStyle/>
          <a:p>
            <a:pPr indent="0" marL="0">
              <a:buNone/>
            </a:pPr>
            <a:r>
              <a:rPr lang="en-US" sz="4000" b="1" dirty="0">
                <a:solidFill>
                  <a:srgbClr val="2B1B14"/>
                </a:solidFill>
                <a:latin typeface="Montserrat" pitchFamily="34" charset="0"/>
                <a:ea typeface="Montserrat" pitchFamily="34" charset="-122"/>
                <a:cs typeface="Montserrat" pitchFamily="34" charset="-120"/>
              </a:rPr>
              <a:t>YOUR EYES CHOOSE FIRST </a:t>
            </a:r>
            <a:pPr indent="0" marL="0">
              <a:buNone/>
            </a:pPr>
            <a:r>
              <a:rPr lang="en-US" sz="4000" b="1" dirty="0">
                <a:solidFill>
                  <a:srgbClr val="000000"/>
                </a:solidFill>
                <a:latin typeface="Montserrat" pitchFamily="34" charset="0"/>
                <a:ea typeface="Montserrat" pitchFamily="34" charset="-122"/>
                <a:cs typeface="Montserrat" pitchFamily="34" charset="-120"/>
              </a:rPr>
              <a:t>👀</a:t>
            </a:r>
            <a:endParaRPr lang="en-US" sz="4000" dirty="0"/>
          </a:p>
        </p:txBody>
      </p:sp>
      <p:sp>
        <p:nvSpPr>
          <p:cNvPr id="6" name="Text 3"/>
          <p:cNvSpPr/>
          <p:nvPr/>
        </p:nvSpPr>
        <p:spPr>
          <a:xfrm>
            <a:off x="658368" y="1847088"/>
            <a:ext cx="8229600" cy="502920"/>
          </a:xfrm>
          <a:prstGeom prst="rect">
            <a:avLst/>
          </a:prstGeom>
          <a:noFill/>
          <a:ln/>
        </p:spPr>
        <p:txBody>
          <a:bodyPr wrap="square" lIns="0" tIns="0" rIns="0" bIns="0" rtlCol="0" anchor="ctr"/>
          <a:lstStyle/>
          <a:p>
            <a:pPr indent="0" marL="0">
              <a:buNone/>
            </a:pPr>
            <a:r>
              <a:rPr lang="en-US" sz="2200" i="1" dirty="0">
                <a:solidFill>
                  <a:srgbClr val="D9433C"/>
                </a:solidFill>
                <a:latin typeface="Calibri" pitchFamily="34" charset="0"/>
                <a:ea typeface="Calibri" pitchFamily="34" charset="-122"/>
                <a:cs typeface="Calibri" pitchFamily="34" charset="-120"/>
              </a:rPr>
              <a:t>Which one looks tastier?</a:t>
            </a:r>
            <a:endParaRPr lang="en-US" sz="2200" dirty="0"/>
          </a:p>
        </p:txBody>
      </p:sp>
      <p:pic>
        <p:nvPicPr>
          <p:cNvPr id="7" name="Image 0" descr="/home/user/Wristworkswebsite/presentation/p2_plain.png">    </p:cNvPr>
          <p:cNvPicPr>
            <a:picLocks noChangeAspect="1"/>
          </p:cNvPicPr>
          <p:nvPr/>
        </p:nvPicPr>
        <p:blipFill>
          <a:blip r:embed="rId2"/>
          <a:stretch>
            <a:fillRect/>
          </a:stretch>
        </p:blipFill>
        <p:spPr>
          <a:xfrm>
            <a:off x="685800" y="2377440"/>
            <a:ext cx="2606040" cy="2834640"/>
          </a:xfrm>
          <a:prstGeom prst="rect">
            <a:avLst/>
          </a:prstGeom>
          <a:effectLst>
            <a:outerShdw sx="100000" sy="100000" kx="0" ky="0" algn="bl" rotWithShape="0" blurRad="177800" dist="76200" dir="5400000">
              <a:srgbClr val="1C1109">
                <a:alpha val="50000"/>
              </a:srgbClr>
            </a:outerShdw>
          </a:effectLst>
        </p:spPr>
      </p:pic>
      <p:sp>
        <p:nvSpPr>
          <p:cNvPr id="8" name="Shape 4"/>
          <p:cNvSpPr/>
          <p:nvPr/>
        </p:nvSpPr>
        <p:spPr>
          <a:xfrm>
            <a:off x="1394460" y="4736592"/>
            <a:ext cx="1188720" cy="365760"/>
          </a:xfrm>
          <a:prstGeom prst="roundRect">
            <a:avLst>
              <a:gd name="adj" fmla="val 50000"/>
            </a:avLst>
          </a:prstGeom>
          <a:solidFill>
            <a:srgbClr val="6E5E50"/>
          </a:solidFill>
          <a:ln/>
        </p:spPr>
      </p:sp>
      <p:sp>
        <p:nvSpPr>
          <p:cNvPr id="9" name="Text 5"/>
          <p:cNvSpPr/>
          <p:nvPr/>
        </p:nvSpPr>
        <p:spPr>
          <a:xfrm>
            <a:off x="1394460" y="4736592"/>
            <a:ext cx="1188720" cy="365760"/>
          </a:xfrm>
          <a:prstGeom prst="rect">
            <a:avLst/>
          </a:prstGeom>
          <a:noFill/>
          <a:ln/>
        </p:spPr>
        <p:txBody>
          <a:bodyPr wrap="square" lIns="0" tIns="0" rIns="0" bIns="0" rtlCol="0" anchor="ctr"/>
          <a:lstStyle/>
          <a:p>
            <a:pPr algn="ctr" indent="0" marL="0">
              <a:buNone/>
            </a:pPr>
            <a:r>
              <a:rPr lang="en-US" sz="1200" b="1" spc="100" kern="0" dirty="0">
                <a:solidFill>
                  <a:srgbClr val="FDF6EC"/>
                </a:solidFill>
                <a:latin typeface="Montserrat" pitchFamily="34" charset="0"/>
                <a:ea typeface="Montserrat" pitchFamily="34" charset="-122"/>
                <a:cs typeface="Montserrat" pitchFamily="34" charset="-120"/>
              </a:rPr>
              <a:t>PLAIN</a:t>
            </a:r>
            <a:endParaRPr lang="en-US" sz="1200" dirty="0"/>
          </a:p>
        </p:txBody>
      </p:sp>
      <p:pic>
        <p:nvPicPr>
          <p:cNvPr id="10" name="Image 1" descr="/home/user/Wristworkswebsite/presentation/p2_plated.png">    </p:cNvPr>
          <p:cNvPicPr>
            <a:picLocks noChangeAspect="1"/>
          </p:cNvPicPr>
          <p:nvPr/>
        </p:nvPicPr>
        <p:blipFill>
          <a:blip r:embed="rId3"/>
          <a:stretch>
            <a:fillRect/>
          </a:stretch>
        </p:blipFill>
        <p:spPr>
          <a:xfrm>
            <a:off x="3474720" y="2377440"/>
            <a:ext cx="2606040" cy="2834640"/>
          </a:xfrm>
          <a:prstGeom prst="rect">
            <a:avLst/>
          </a:prstGeom>
          <a:effectLst>
            <a:outerShdw sx="100000" sy="100000" kx="0" ky="0" algn="bl" rotWithShape="0" blurRad="177800" dist="76200" dir="5400000">
              <a:srgbClr val="1C1109">
                <a:alpha val="50000"/>
              </a:srgbClr>
            </a:outerShdw>
          </a:effectLst>
        </p:spPr>
      </p:pic>
      <p:sp>
        <p:nvSpPr>
          <p:cNvPr id="11" name="Shape 6"/>
          <p:cNvSpPr/>
          <p:nvPr/>
        </p:nvSpPr>
        <p:spPr>
          <a:xfrm>
            <a:off x="3703320" y="4736592"/>
            <a:ext cx="2148840" cy="365760"/>
          </a:xfrm>
          <a:prstGeom prst="roundRect">
            <a:avLst>
              <a:gd name="adj" fmla="val 50000"/>
            </a:avLst>
          </a:prstGeom>
          <a:solidFill>
            <a:srgbClr val="E8722C"/>
          </a:solidFill>
          <a:ln/>
        </p:spPr>
      </p:sp>
      <p:sp>
        <p:nvSpPr>
          <p:cNvPr id="12" name="Text 7"/>
          <p:cNvSpPr/>
          <p:nvPr/>
        </p:nvSpPr>
        <p:spPr>
          <a:xfrm>
            <a:off x="3703320" y="4736592"/>
            <a:ext cx="2148840" cy="365760"/>
          </a:xfrm>
          <a:prstGeom prst="rect">
            <a:avLst/>
          </a:prstGeom>
          <a:noFill/>
          <a:ln/>
        </p:spPr>
        <p:txBody>
          <a:bodyPr wrap="square" lIns="0" tIns="0" rIns="0" bIns="0" rtlCol="0" anchor="ctr"/>
          <a:lstStyle/>
          <a:p>
            <a:pPr algn="ctr" indent="0" marL="0">
              <a:buNone/>
            </a:pPr>
            <a:r>
              <a:rPr lang="en-US" sz="1200" b="1" spc="100" kern="0" dirty="0">
                <a:solidFill>
                  <a:srgbClr val="1C1109"/>
                </a:solidFill>
                <a:latin typeface="Montserrat" pitchFamily="34" charset="0"/>
                <a:ea typeface="Montserrat" pitchFamily="34" charset="-122"/>
                <a:cs typeface="Montserrat" pitchFamily="34" charset="-120"/>
              </a:rPr>
              <a:t>PLATED WITH LOVE</a:t>
            </a:r>
            <a:endParaRPr lang="en-US" sz="1200" dirty="0"/>
          </a:p>
        </p:txBody>
      </p:sp>
      <p:sp>
        <p:nvSpPr>
          <p:cNvPr id="13" name="Shape 8"/>
          <p:cNvSpPr/>
          <p:nvPr/>
        </p:nvSpPr>
        <p:spPr>
          <a:xfrm>
            <a:off x="5184648" y="2523744"/>
            <a:ext cx="822960" cy="420624"/>
          </a:xfrm>
          <a:prstGeom prst="roundRect">
            <a:avLst>
              <a:gd name="adj" fmla="val 50000"/>
            </a:avLst>
          </a:prstGeom>
          <a:solidFill>
            <a:srgbClr val="D9433C"/>
          </a:solidFill>
          <a:ln/>
        </p:spPr>
      </p:sp>
      <p:sp>
        <p:nvSpPr>
          <p:cNvPr id="14" name="Text 9"/>
          <p:cNvSpPr/>
          <p:nvPr/>
        </p:nvSpPr>
        <p:spPr>
          <a:xfrm>
            <a:off x="5184648" y="2523744"/>
            <a:ext cx="822960" cy="420624"/>
          </a:xfrm>
          <a:prstGeom prst="rect">
            <a:avLst/>
          </a:prstGeom>
          <a:noFill/>
          <a:ln/>
        </p:spPr>
        <p:txBody>
          <a:bodyPr wrap="square" lIns="0" tIns="0" rIns="0" bIns="0" rtlCol="0" anchor="ctr"/>
          <a:lstStyle/>
          <a:p>
            <a:pPr algn="ctr" indent="0" marL="0">
              <a:buNone/>
            </a:pPr>
            <a:r>
              <a:rPr lang="en-US" sz="1300" b="1" dirty="0">
                <a:solidFill>
                  <a:srgbClr val="FDF6EC"/>
                </a:solidFill>
                <a:latin typeface="Montserrat" pitchFamily="34" charset="0"/>
                <a:ea typeface="Montserrat" pitchFamily="34" charset="-122"/>
                <a:cs typeface="Montserrat" pitchFamily="34" charset="-120"/>
              </a:rPr>
              <a:t>WOW</a:t>
            </a:r>
            <a:endParaRPr lang="en-US" sz="1300" dirty="0"/>
          </a:p>
        </p:txBody>
      </p:sp>
      <p:sp>
        <p:nvSpPr>
          <p:cNvPr id="15" name="Text 10"/>
          <p:cNvSpPr/>
          <p:nvPr/>
        </p:nvSpPr>
        <p:spPr>
          <a:xfrm>
            <a:off x="6355080" y="2743200"/>
            <a:ext cx="2468880" cy="1828800"/>
          </a:xfrm>
          <a:prstGeom prst="rect">
            <a:avLst/>
          </a:prstGeom>
          <a:noFill/>
          <a:ln/>
        </p:spPr>
        <p:txBody>
          <a:bodyPr wrap="square" lIns="0" tIns="0" rIns="0" bIns="0" rtlCol="0" anchor="ctr"/>
          <a:lstStyle/>
          <a:p>
            <a:pPr algn="l" indent="0" marL="0">
              <a:lnSpc>
                <a:spcPct val="105000"/>
              </a:lnSpc>
              <a:buNone/>
            </a:pPr>
            <a:r>
              <a:rPr lang="en-US" sz="1700" b="1" dirty="0">
                <a:solidFill>
                  <a:srgbClr val="2B1B14"/>
                </a:solidFill>
                <a:latin typeface="Calibri" pitchFamily="34" charset="0"/>
                <a:ea typeface="Calibri" pitchFamily="34" charset="-122"/>
                <a:cs typeface="Calibri" pitchFamily="34" charset="-120"/>
              </a:rPr>
              <a:t>Same burger.
</a:t>
            </a:r>
            <a:pPr algn="l" indent="0" marL="0">
              <a:lnSpc>
                <a:spcPct val="105000"/>
              </a:lnSpc>
              <a:buNone/>
            </a:pPr>
            <a:r>
              <a:rPr lang="en-US" sz="1700" b="1" dirty="0">
                <a:solidFill>
                  <a:srgbClr val="2B1B14"/>
                </a:solidFill>
                <a:latin typeface="Calibri" pitchFamily="34" charset="0"/>
                <a:ea typeface="Calibri" pitchFamily="34" charset="-122"/>
                <a:cs typeface="Calibri" pitchFamily="34" charset="-120"/>
              </a:rPr>
              <a:t>Same recipe.
</a:t>
            </a:r>
            <a:pPr algn="l" indent="0" marL="0">
              <a:lnSpc>
                <a:spcPct val="105000"/>
              </a:lnSpc>
              <a:buNone/>
            </a:pPr>
            <a:r>
              <a:rPr lang="en-US" sz="1700" dirty="0">
                <a:solidFill>
                  <a:srgbClr val="8A6F5A"/>
                </a:solidFill>
                <a:latin typeface="Calibri" pitchFamily="34" charset="0"/>
                <a:ea typeface="Calibri" pitchFamily="34" charset="-122"/>
                <a:cs typeface="Calibri" pitchFamily="34" charset="-120"/>
              </a:rPr>
              <a:t>One just got </a:t>
            </a:r>
            <a:pPr algn="l" indent="0" marL="0">
              <a:lnSpc>
                <a:spcPct val="105000"/>
              </a:lnSpc>
              <a:buNone/>
            </a:pPr>
            <a:r>
              <a:rPr lang="en-US" sz="1700" b="1" i="1" dirty="0">
                <a:solidFill>
                  <a:srgbClr val="D9433C"/>
                </a:solidFill>
                <a:latin typeface="Calibri" pitchFamily="34" charset="0"/>
                <a:ea typeface="Calibri" pitchFamily="34" charset="-122"/>
                <a:cs typeface="Calibri" pitchFamily="34" charset="-120"/>
              </a:rPr>
              <a:t>dressed up.</a:t>
            </a:r>
            <a:endParaRPr lang="en-US" sz="1700" dirty="0"/>
          </a:p>
        </p:txBody>
      </p:sp>
      <p:sp>
        <p:nvSpPr>
          <p:cNvPr id="16" name="Shape 11"/>
          <p:cNvSpPr/>
          <p:nvPr/>
        </p:nvSpPr>
        <p:spPr>
          <a:xfrm>
            <a:off x="9006840" y="1417320"/>
            <a:ext cx="2697480" cy="1024128"/>
          </a:xfrm>
          <a:prstGeom prst="roundRect">
            <a:avLst>
              <a:gd name="adj" fmla="val 14286"/>
            </a:avLst>
          </a:prstGeom>
          <a:solidFill>
            <a:srgbClr val="FFFFFF"/>
          </a:solidFill>
          <a:ln/>
          <a:effectLst>
            <a:outerShdw sx="100000" sy="100000" kx="0" ky="0" algn="bl" rotWithShape="0" blurRad="101600" dist="38100" dir="5400000">
              <a:srgbClr val="D8C3AB">
                <a:alpha val="50000"/>
              </a:srgbClr>
            </a:outerShdw>
          </a:effectLst>
        </p:spPr>
      </p:sp>
      <p:pic>
        <p:nvPicPr>
          <p:cNvPr id="17" name="Image 2" descr="/home/user/Wristworkswebsite/presentation/icon_eye.png">    </p:cNvPr>
          <p:cNvPicPr>
            <a:picLocks noChangeAspect="1"/>
          </p:cNvPicPr>
          <p:nvPr/>
        </p:nvPicPr>
        <p:blipFill>
          <a:blip r:embed="rId4"/>
          <a:srcRect l="0" r="0" t="0" b="0"/>
          <a:stretch/>
        </p:blipFill>
        <p:spPr>
          <a:xfrm>
            <a:off x="9171432" y="1600200"/>
            <a:ext cx="658368" cy="658368"/>
          </a:xfrm>
          <a:prstGeom prst="rect">
            <a:avLst/>
          </a:prstGeom>
        </p:spPr>
      </p:pic>
      <p:sp>
        <p:nvSpPr>
          <p:cNvPr id="18" name="Text 12"/>
          <p:cNvSpPr/>
          <p:nvPr/>
        </p:nvSpPr>
        <p:spPr>
          <a:xfrm>
            <a:off x="9921240" y="1417320"/>
            <a:ext cx="1691640" cy="1024128"/>
          </a:xfrm>
          <a:prstGeom prst="rect">
            <a:avLst/>
          </a:prstGeom>
          <a:noFill/>
          <a:ln/>
        </p:spPr>
        <p:txBody>
          <a:bodyPr wrap="square" lIns="0" tIns="0" rIns="0" bIns="0" rtlCol="0" anchor="ctr"/>
          <a:lstStyle/>
          <a:p>
            <a:pPr algn="l" indent="0" marL="0">
              <a:buNone/>
            </a:pPr>
            <a:r>
              <a:rPr lang="en-US" sz="1700" b="1" dirty="0">
                <a:solidFill>
                  <a:srgbClr val="E8722C"/>
                </a:solidFill>
                <a:latin typeface="Montserrat" pitchFamily="34" charset="0"/>
                <a:ea typeface="Montserrat" pitchFamily="34" charset="-122"/>
                <a:cs typeface="Montserrat" pitchFamily="34" charset="-120"/>
              </a:rPr>
              <a:t>SEE</a:t>
            </a:r>
            <a:endParaRPr lang="en-US" sz="1700" dirty="0"/>
          </a:p>
        </p:txBody>
      </p:sp>
      <p:sp>
        <p:nvSpPr>
          <p:cNvPr id="19" name="Text 13"/>
          <p:cNvSpPr/>
          <p:nvPr/>
        </p:nvSpPr>
        <p:spPr>
          <a:xfrm>
            <a:off x="9006840" y="2404872"/>
            <a:ext cx="2697480" cy="365760"/>
          </a:xfrm>
          <a:prstGeom prst="rect">
            <a:avLst/>
          </a:prstGeom>
          <a:noFill/>
          <a:ln/>
        </p:spPr>
        <p:txBody>
          <a:bodyPr wrap="square" lIns="0" tIns="0" rIns="0" bIns="0" rtlCol="0" anchor="ctr"/>
          <a:lstStyle/>
          <a:p>
            <a:pPr algn="ctr" indent="0" marL="0">
              <a:buNone/>
            </a:pPr>
            <a:r>
              <a:rPr lang="en-US" sz="2000" b="1" dirty="0">
                <a:solidFill>
                  <a:srgbClr val="E8722C"/>
                </a:solidFill>
                <a:latin typeface="Montserrat" pitchFamily="34" charset="0"/>
                <a:ea typeface="Montserrat" pitchFamily="34" charset="-122"/>
                <a:cs typeface="Montserrat" pitchFamily="34" charset="-120"/>
              </a:rPr>
              <a:t>↓</a:t>
            </a:r>
            <a:endParaRPr lang="en-US" sz="2000" dirty="0"/>
          </a:p>
        </p:txBody>
      </p:sp>
      <p:sp>
        <p:nvSpPr>
          <p:cNvPr id="20" name="Shape 14"/>
          <p:cNvSpPr/>
          <p:nvPr/>
        </p:nvSpPr>
        <p:spPr>
          <a:xfrm>
            <a:off x="9006840" y="2715768"/>
            <a:ext cx="2697480" cy="1024128"/>
          </a:xfrm>
          <a:prstGeom prst="roundRect">
            <a:avLst>
              <a:gd name="adj" fmla="val 14286"/>
            </a:avLst>
          </a:prstGeom>
          <a:solidFill>
            <a:srgbClr val="FFFFFF"/>
          </a:solidFill>
          <a:ln/>
          <a:effectLst>
            <a:outerShdw sx="100000" sy="100000" kx="0" ky="0" algn="bl" rotWithShape="0" blurRad="101600" dist="38100" dir="5400000">
              <a:srgbClr val="D8C3AB">
                <a:alpha val="50000"/>
              </a:srgbClr>
            </a:outerShdw>
          </a:effectLst>
        </p:spPr>
      </p:sp>
      <p:pic>
        <p:nvPicPr>
          <p:cNvPr id="21" name="Image 3" descr="/home/user/Wristworkswebsite/presentation/icon_brain.png">    </p:cNvPr>
          <p:cNvPicPr>
            <a:picLocks noChangeAspect="1"/>
          </p:cNvPicPr>
          <p:nvPr/>
        </p:nvPicPr>
        <p:blipFill>
          <a:blip r:embed="rId5"/>
          <a:srcRect l="0" r="0" t="0" b="0"/>
          <a:stretch/>
        </p:blipFill>
        <p:spPr>
          <a:xfrm>
            <a:off x="9171432" y="2898648"/>
            <a:ext cx="658368" cy="658368"/>
          </a:xfrm>
          <a:prstGeom prst="rect">
            <a:avLst/>
          </a:prstGeom>
        </p:spPr>
      </p:pic>
      <p:sp>
        <p:nvSpPr>
          <p:cNvPr id="22" name="Text 15"/>
          <p:cNvSpPr/>
          <p:nvPr/>
        </p:nvSpPr>
        <p:spPr>
          <a:xfrm>
            <a:off x="9921240" y="2715768"/>
            <a:ext cx="1691640" cy="1024128"/>
          </a:xfrm>
          <a:prstGeom prst="rect">
            <a:avLst/>
          </a:prstGeom>
          <a:noFill/>
          <a:ln/>
        </p:spPr>
        <p:txBody>
          <a:bodyPr wrap="square" lIns="0" tIns="0" rIns="0" bIns="0" rtlCol="0" anchor="ctr"/>
          <a:lstStyle/>
          <a:p>
            <a:pPr algn="l" indent="0" marL="0">
              <a:buNone/>
            </a:pPr>
            <a:r>
              <a:rPr lang="en-US" sz="1700" b="1" dirty="0">
                <a:solidFill>
                  <a:srgbClr val="D9433C"/>
                </a:solidFill>
                <a:latin typeface="Montserrat" pitchFamily="34" charset="0"/>
                <a:ea typeface="Montserrat" pitchFamily="34" charset="-122"/>
                <a:cs typeface="Montserrat" pitchFamily="34" charset="-120"/>
              </a:rPr>
              <a:t>EXPECT</a:t>
            </a:r>
            <a:endParaRPr lang="en-US" sz="1700" dirty="0"/>
          </a:p>
        </p:txBody>
      </p:sp>
      <p:sp>
        <p:nvSpPr>
          <p:cNvPr id="23" name="Text 16"/>
          <p:cNvSpPr/>
          <p:nvPr/>
        </p:nvSpPr>
        <p:spPr>
          <a:xfrm>
            <a:off x="9006840" y="3703320"/>
            <a:ext cx="2697480" cy="365760"/>
          </a:xfrm>
          <a:prstGeom prst="rect">
            <a:avLst/>
          </a:prstGeom>
          <a:noFill/>
          <a:ln/>
        </p:spPr>
        <p:txBody>
          <a:bodyPr wrap="square" lIns="0" tIns="0" rIns="0" bIns="0" rtlCol="0" anchor="ctr"/>
          <a:lstStyle/>
          <a:p>
            <a:pPr algn="ctr" indent="0" marL="0">
              <a:buNone/>
            </a:pPr>
            <a:r>
              <a:rPr lang="en-US" sz="2000" b="1" dirty="0">
                <a:solidFill>
                  <a:srgbClr val="E8722C"/>
                </a:solidFill>
                <a:latin typeface="Montserrat" pitchFamily="34" charset="0"/>
                <a:ea typeface="Montserrat" pitchFamily="34" charset="-122"/>
                <a:cs typeface="Montserrat" pitchFamily="34" charset="-120"/>
              </a:rPr>
              <a:t>↓</a:t>
            </a:r>
            <a:endParaRPr lang="en-US" sz="2000" dirty="0"/>
          </a:p>
        </p:txBody>
      </p:sp>
      <p:sp>
        <p:nvSpPr>
          <p:cNvPr id="24" name="Shape 17"/>
          <p:cNvSpPr/>
          <p:nvPr/>
        </p:nvSpPr>
        <p:spPr>
          <a:xfrm>
            <a:off x="9006840" y="4014216"/>
            <a:ext cx="2697480" cy="1024128"/>
          </a:xfrm>
          <a:prstGeom prst="roundRect">
            <a:avLst>
              <a:gd name="adj" fmla="val 14286"/>
            </a:avLst>
          </a:prstGeom>
          <a:solidFill>
            <a:srgbClr val="FFFFFF"/>
          </a:solidFill>
          <a:ln/>
          <a:effectLst>
            <a:outerShdw sx="100000" sy="100000" kx="0" ky="0" algn="bl" rotWithShape="0" blurRad="101600" dist="38100" dir="5400000">
              <a:srgbClr val="D8C3AB">
                <a:alpha val="50000"/>
              </a:srgbClr>
            </a:outerShdw>
          </a:effectLst>
        </p:spPr>
      </p:sp>
      <p:pic>
        <p:nvPicPr>
          <p:cNvPr id="25" name="Image 4" descr="/home/user/Wristworkswebsite/presentation/icon_fork.png">    </p:cNvPr>
          <p:cNvPicPr>
            <a:picLocks noChangeAspect="1"/>
          </p:cNvPicPr>
          <p:nvPr/>
        </p:nvPicPr>
        <p:blipFill>
          <a:blip r:embed="rId6"/>
          <a:srcRect l="0" r="0" t="0" b="0"/>
          <a:stretch/>
        </p:blipFill>
        <p:spPr>
          <a:xfrm>
            <a:off x="9171432" y="4197096"/>
            <a:ext cx="658368" cy="658368"/>
          </a:xfrm>
          <a:prstGeom prst="rect">
            <a:avLst/>
          </a:prstGeom>
        </p:spPr>
      </p:pic>
      <p:sp>
        <p:nvSpPr>
          <p:cNvPr id="26" name="Text 18"/>
          <p:cNvSpPr/>
          <p:nvPr/>
        </p:nvSpPr>
        <p:spPr>
          <a:xfrm>
            <a:off x="9921240" y="4014216"/>
            <a:ext cx="1691640" cy="1024128"/>
          </a:xfrm>
          <a:prstGeom prst="rect">
            <a:avLst/>
          </a:prstGeom>
          <a:noFill/>
          <a:ln/>
        </p:spPr>
        <p:txBody>
          <a:bodyPr wrap="square" lIns="0" tIns="0" rIns="0" bIns="0" rtlCol="0" anchor="ctr"/>
          <a:lstStyle/>
          <a:p>
            <a:pPr algn="l" indent="0" marL="0">
              <a:buNone/>
            </a:pPr>
            <a:r>
              <a:rPr lang="en-US" sz="1700" b="1" dirty="0">
                <a:solidFill>
                  <a:srgbClr val="3A2318"/>
                </a:solidFill>
                <a:latin typeface="Montserrat" pitchFamily="34" charset="0"/>
                <a:ea typeface="Montserrat" pitchFamily="34" charset="-122"/>
                <a:cs typeface="Montserrat" pitchFamily="34" charset="-120"/>
              </a:rPr>
              <a:t>CHOOSE</a:t>
            </a:r>
            <a:endParaRPr lang="en-US" sz="1700" dirty="0"/>
          </a:p>
        </p:txBody>
      </p:sp>
      <p:sp>
        <p:nvSpPr>
          <p:cNvPr id="27" name="Text 19"/>
          <p:cNvSpPr/>
          <p:nvPr/>
        </p:nvSpPr>
        <p:spPr>
          <a:xfrm>
            <a:off x="685800" y="5440680"/>
            <a:ext cx="8595360" cy="502920"/>
          </a:xfrm>
          <a:prstGeom prst="rect">
            <a:avLst/>
          </a:prstGeom>
          <a:noFill/>
          <a:ln/>
        </p:spPr>
        <p:txBody>
          <a:bodyPr wrap="square" lIns="0" tIns="0" rIns="0" bIns="0" rtlCol="0" anchor="ctr"/>
          <a:lstStyle/>
          <a:p>
            <a:pPr indent="0" marL="0">
              <a:buNone/>
            </a:pPr>
            <a:r>
              <a:rPr lang="en-US" sz="1900" dirty="0">
                <a:solidFill>
                  <a:srgbClr val="2B1B14"/>
                </a:solidFill>
                <a:latin typeface="Calibri" pitchFamily="34" charset="0"/>
                <a:ea typeface="Calibri" pitchFamily="34" charset="-122"/>
                <a:cs typeface="Calibri" pitchFamily="34" charset="-120"/>
              </a:rPr>
              <a:t>We taste with our eyes long before the first bite.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548640"/>
            <a:ext cx="2286000" cy="457200"/>
          </a:xfrm>
          <a:prstGeom prst="roundRect">
            <a:avLst>
              <a:gd name="adj" fmla="val 50000"/>
            </a:avLst>
          </a:prstGeom>
          <a:solidFill>
            <a:srgbClr val="2B1B14"/>
          </a:solidFill>
          <a:ln/>
        </p:spPr>
      </p:sp>
      <p:sp>
        <p:nvSpPr>
          <p:cNvPr id="4" name="Text 1"/>
          <p:cNvSpPr/>
          <p:nvPr/>
        </p:nvSpPr>
        <p:spPr>
          <a:xfrm>
            <a:off x="685800" y="548640"/>
            <a:ext cx="2286000" cy="457200"/>
          </a:xfrm>
          <a:prstGeom prst="rect">
            <a:avLst/>
          </a:prstGeom>
          <a:noFill/>
          <a:ln/>
        </p:spPr>
        <p:txBody>
          <a:bodyPr wrap="square" lIns="0" tIns="0" rIns="0" bIns="0" rtlCol="0" anchor="ctr"/>
          <a:lstStyle/>
          <a:p>
            <a:pPr algn="ctr" indent="0" marL="0">
              <a:buNone/>
            </a:pPr>
            <a:r>
              <a:rPr lang="en-US" sz="1300" b="1" spc="200" kern="0" dirty="0">
                <a:solidFill>
                  <a:srgbClr val="FDF6EC"/>
                </a:solidFill>
                <a:latin typeface="Montserrat" pitchFamily="34" charset="0"/>
                <a:ea typeface="Montserrat" pitchFamily="34" charset="-122"/>
                <a:cs typeface="Montserrat" pitchFamily="34" charset="-120"/>
              </a:rPr>
              <a:t>02 · LANGUAGE</a:t>
            </a:r>
            <a:endParaRPr lang="en-US" sz="1300" dirty="0"/>
          </a:p>
        </p:txBody>
      </p:sp>
      <p:sp>
        <p:nvSpPr>
          <p:cNvPr id="5" name="Text 2"/>
          <p:cNvSpPr/>
          <p:nvPr/>
        </p:nvSpPr>
        <p:spPr>
          <a:xfrm>
            <a:off x="640080" y="1051560"/>
            <a:ext cx="10424160" cy="822960"/>
          </a:xfrm>
          <a:prstGeom prst="rect">
            <a:avLst/>
          </a:prstGeom>
          <a:noFill/>
          <a:ln/>
        </p:spPr>
        <p:txBody>
          <a:bodyPr wrap="square" lIns="0" tIns="0" rIns="0" bIns="0" rtlCol="0" anchor="ctr"/>
          <a:lstStyle/>
          <a:p>
            <a:pPr indent="0" marL="0">
              <a:buNone/>
            </a:pPr>
            <a:r>
              <a:rPr lang="en-US" sz="3700" b="1" dirty="0">
                <a:solidFill>
                  <a:srgbClr val="2B1B14"/>
                </a:solidFill>
                <a:latin typeface="Montserrat" pitchFamily="34" charset="0"/>
                <a:ea typeface="Montserrat" pitchFamily="34" charset="-122"/>
                <a:cs typeface="Montserrat" pitchFamily="34" charset="-120"/>
              </a:rPr>
              <a:t>IS THE MENU MANIPULATING YOU? </a:t>
            </a:r>
            <a:pPr indent="0" marL="0">
              <a:buNone/>
            </a:pPr>
            <a:r>
              <a:rPr lang="en-US" sz="3700" b="1" dirty="0">
                <a:solidFill>
                  <a:srgbClr val="000000"/>
                </a:solidFill>
                <a:latin typeface="Montserrat" pitchFamily="34" charset="0"/>
                <a:ea typeface="Montserrat" pitchFamily="34" charset="-122"/>
                <a:cs typeface="Montserrat" pitchFamily="34" charset="-120"/>
              </a:rPr>
              <a:t>📋</a:t>
            </a:r>
            <a:endParaRPr lang="en-US" sz="3700" dirty="0"/>
          </a:p>
        </p:txBody>
      </p:sp>
      <p:sp>
        <p:nvSpPr>
          <p:cNvPr id="6" name="Shape 3"/>
          <p:cNvSpPr/>
          <p:nvPr/>
        </p:nvSpPr>
        <p:spPr>
          <a:xfrm>
            <a:off x="685800" y="2011680"/>
            <a:ext cx="6949440" cy="4160520"/>
          </a:xfrm>
          <a:prstGeom prst="roundRect">
            <a:avLst>
              <a:gd name="adj" fmla="val 3956"/>
            </a:avLst>
          </a:prstGeom>
          <a:solidFill>
            <a:srgbClr val="FFFDF9"/>
          </a:solidFill>
          <a:ln w="19050">
            <a:solidFill>
              <a:srgbClr val="E3CFB4"/>
            </a:solidFill>
            <a:prstDash val="solid"/>
          </a:ln>
          <a:effectLst>
            <a:outerShdw sx="100000" sy="100000" kx="0" ky="0" algn="bl" rotWithShape="0" blurRad="203200" dist="76200" dir="5400000">
              <a:srgbClr val="C9AC8B">
                <a:alpha val="50000"/>
              </a:srgbClr>
            </a:outerShdw>
          </a:effectLst>
        </p:spPr>
      </p:sp>
      <p:sp>
        <p:nvSpPr>
          <p:cNvPr id="7" name="Text 4"/>
          <p:cNvSpPr/>
          <p:nvPr/>
        </p:nvSpPr>
        <p:spPr>
          <a:xfrm>
            <a:off x="685800" y="2286000"/>
            <a:ext cx="6949440" cy="365760"/>
          </a:xfrm>
          <a:prstGeom prst="rect">
            <a:avLst/>
          </a:prstGeom>
          <a:noFill/>
          <a:ln/>
        </p:spPr>
        <p:txBody>
          <a:bodyPr wrap="square" lIns="0" tIns="0" rIns="0" bIns="0" rtlCol="0" anchor="ctr"/>
          <a:lstStyle/>
          <a:p>
            <a:pPr algn="ctr" indent="0" marL="0">
              <a:buNone/>
            </a:pPr>
            <a:r>
              <a:rPr lang="en-US" sz="1500" b="1" spc="400" kern="0" dirty="0">
                <a:solidFill>
                  <a:srgbClr val="E8722C"/>
                </a:solidFill>
                <a:latin typeface="Montserrat" pitchFamily="34" charset="0"/>
                <a:ea typeface="Montserrat" pitchFamily="34" charset="-122"/>
                <a:cs typeface="Montserrat" pitchFamily="34" charset="-120"/>
              </a:rPr>
              <a:t>— THE KITCHEN —</a:t>
            </a:r>
            <a:endParaRPr lang="en-US" sz="1500" dirty="0"/>
          </a:p>
        </p:txBody>
      </p:sp>
      <p:sp>
        <p:nvSpPr>
          <p:cNvPr id="8" name="Text 5"/>
          <p:cNvSpPr/>
          <p:nvPr/>
        </p:nvSpPr>
        <p:spPr>
          <a:xfrm>
            <a:off x="685800" y="2578608"/>
            <a:ext cx="6949440" cy="502920"/>
          </a:xfrm>
          <a:prstGeom prst="rect">
            <a:avLst/>
          </a:prstGeom>
          <a:noFill/>
          <a:ln/>
        </p:spPr>
        <p:txBody>
          <a:bodyPr wrap="square" lIns="0" tIns="0" rIns="0" bIns="0" rtlCol="0" anchor="ctr"/>
          <a:lstStyle/>
          <a:p>
            <a:pPr algn="ctr" indent="0" marL="0">
              <a:buNone/>
            </a:pPr>
            <a:r>
              <a:rPr lang="en-US" sz="2600" i="1" dirty="0">
                <a:solidFill>
                  <a:srgbClr val="2B1B14"/>
                </a:solidFill>
                <a:latin typeface="Calibri" pitchFamily="34" charset="0"/>
                <a:ea typeface="Calibri" pitchFamily="34" charset="-122"/>
                <a:cs typeface="Calibri" pitchFamily="34" charset="-120"/>
              </a:rPr>
              <a:t>menu</a:t>
            </a:r>
            <a:endParaRPr lang="en-US" sz="2600" dirty="0"/>
          </a:p>
        </p:txBody>
      </p:sp>
      <p:sp>
        <p:nvSpPr>
          <p:cNvPr id="9" name="Text 6"/>
          <p:cNvSpPr/>
          <p:nvPr/>
        </p:nvSpPr>
        <p:spPr>
          <a:xfrm>
            <a:off x="1188720" y="3337560"/>
            <a:ext cx="5074920" cy="365760"/>
          </a:xfrm>
          <a:prstGeom prst="rect">
            <a:avLst/>
          </a:prstGeom>
          <a:noFill/>
          <a:ln/>
        </p:spPr>
        <p:txBody>
          <a:bodyPr wrap="square" lIns="0" tIns="0" rIns="0" bIns="0" rtlCol="0" anchor="ctr"/>
          <a:lstStyle/>
          <a:p>
            <a:pPr indent="0" marL="0">
              <a:buNone/>
            </a:pPr>
            <a:r>
              <a:rPr lang="en-US" sz="1800" b="1" dirty="0">
                <a:solidFill>
                  <a:srgbClr val="2B1B14"/>
                </a:solidFill>
                <a:latin typeface="Montserrat" pitchFamily="34" charset="0"/>
                <a:ea typeface="Montserrat" pitchFamily="34" charset="-122"/>
                <a:cs typeface="Montserrat" pitchFamily="34" charset="-120"/>
              </a:rPr>
              <a:t>Classic Burger</a:t>
            </a:r>
            <a:endParaRPr lang="en-US" sz="1800" dirty="0"/>
          </a:p>
        </p:txBody>
      </p:sp>
      <p:sp>
        <p:nvSpPr>
          <p:cNvPr id="10" name="Text 7"/>
          <p:cNvSpPr/>
          <p:nvPr/>
        </p:nvSpPr>
        <p:spPr>
          <a:xfrm>
            <a:off x="6217920" y="3337560"/>
            <a:ext cx="960120" cy="365760"/>
          </a:xfrm>
          <a:prstGeom prst="rect">
            <a:avLst/>
          </a:prstGeom>
          <a:noFill/>
          <a:ln/>
        </p:spPr>
        <p:txBody>
          <a:bodyPr wrap="square" lIns="0" tIns="0" rIns="0" bIns="0" rtlCol="0" anchor="ctr"/>
          <a:lstStyle/>
          <a:p>
            <a:pPr algn="r" indent="0" marL="0">
              <a:buNone/>
            </a:pPr>
            <a:r>
              <a:rPr lang="en-US" sz="1800" b="1" dirty="0">
                <a:solidFill>
                  <a:srgbClr val="2B1B14"/>
                </a:solidFill>
                <a:latin typeface="Montserrat" pitchFamily="34" charset="0"/>
                <a:ea typeface="Montserrat" pitchFamily="34" charset="-122"/>
                <a:cs typeface="Montserrat" pitchFamily="34" charset="-120"/>
              </a:rPr>
              <a:t>$12</a:t>
            </a:r>
            <a:endParaRPr lang="en-US" sz="1800" dirty="0"/>
          </a:p>
        </p:txBody>
      </p:sp>
      <p:sp>
        <p:nvSpPr>
          <p:cNvPr id="11" name="Shape 8"/>
          <p:cNvSpPr/>
          <p:nvPr/>
        </p:nvSpPr>
        <p:spPr>
          <a:xfrm>
            <a:off x="1188720" y="3858768"/>
            <a:ext cx="5943600" cy="0"/>
          </a:xfrm>
          <a:prstGeom prst="line">
            <a:avLst/>
          </a:prstGeom>
          <a:noFill/>
          <a:ln w="12700">
            <a:solidFill>
              <a:srgbClr val="EADBC4"/>
            </a:solidFill>
            <a:prstDash val="dash"/>
          </a:ln>
        </p:spPr>
      </p:sp>
      <p:sp>
        <p:nvSpPr>
          <p:cNvPr id="12" name="Text 9"/>
          <p:cNvSpPr/>
          <p:nvPr/>
        </p:nvSpPr>
        <p:spPr>
          <a:xfrm>
            <a:off x="1188720" y="4023360"/>
            <a:ext cx="5074920" cy="365760"/>
          </a:xfrm>
          <a:prstGeom prst="rect">
            <a:avLst/>
          </a:prstGeom>
          <a:noFill/>
          <a:ln/>
        </p:spPr>
        <p:txBody>
          <a:bodyPr wrap="square" lIns="0" tIns="0" rIns="0" bIns="0" rtlCol="0" anchor="ctr"/>
          <a:lstStyle/>
          <a:p>
            <a:pPr indent="0" marL="0">
              <a:buNone/>
            </a:pPr>
            <a:r>
              <a:rPr lang="en-US" sz="1500" b="1" dirty="0">
                <a:solidFill>
                  <a:srgbClr val="D9433C"/>
                </a:solidFill>
                <a:latin typeface="Montserrat" pitchFamily="34" charset="0"/>
                <a:ea typeface="Montserrat" pitchFamily="34" charset="-122"/>
                <a:cs typeface="Montserrat" pitchFamily="34" charset="-120"/>
              </a:rPr>
              <a:t>Chef's Signature Fire-Grilled Beef Burger</a:t>
            </a:r>
            <a:endParaRPr lang="en-US" sz="1500" dirty="0"/>
          </a:p>
        </p:txBody>
      </p:sp>
      <p:sp>
        <p:nvSpPr>
          <p:cNvPr id="13" name="Text 10"/>
          <p:cNvSpPr/>
          <p:nvPr/>
        </p:nvSpPr>
        <p:spPr>
          <a:xfrm>
            <a:off x="1188720" y="4352544"/>
            <a:ext cx="4434840" cy="566928"/>
          </a:xfrm>
          <a:prstGeom prst="rect">
            <a:avLst/>
          </a:prstGeom>
          <a:noFill/>
          <a:ln/>
        </p:spPr>
        <p:txBody>
          <a:bodyPr wrap="square" lIns="0" tIns="0" rIns="0" bIns="0" rtlCol="0" anchor="ctr"/>
          <a:lstStyle/>
          <a:p>
            <a:pPr indent="0" marL="0">
              <a:buNone/>
            </a:pPr>
            <a:r>
              <a:rPr lang="en-US" sz="1350" i="1" dirty="0">
                <a:solidFill>
                  <a:srgbClr val="8A6F5A"/>
                </a:solidFill>
                <a:latin typeface="Calibri" pitchFamily="34" charset="0"/>
                <a:ea typeface="Calibri" pitchFamily="34" charset="-122"/>
                <a:cs typeface="Calibri" pitchFamily="34" charset="-120"/>
              </a:rPr>
              <a:t>caramelised onions, smoked house sauce &amp; brioche</a:t>
            </a:r>
            <a:endParaRPr lang="en-US" sz="1350" dirty="0"/>
          </a:p>
        </p:txBody>
      </p:sp>
      <p:sp>
        <p:nvSpPr>
          <p:cNvPr id="14" name="Text 11"/>
          <p:cNvSpPr/>
          <p:nvPr/>
        </p:nvSpPr>
        <p:spPr>
          <a:xfrm>
            <a:off x="6217920" y="4023360"/>
            <a:ext cx="960120" cy="365760"/>
          </a:xfrm>
          <a:prstGeom prst="rect">
            <a:avLst/>
          </a:prstGeom>
          <a:noFill/>
          <a:ln/>
        </p:spPr>
        <p:txBody>
          <a:bodyPr wrap="square" lIns="0" tIns="0" rIns="0" bIns="0" rtlCol="0" anchor="ctr"/>
          <a:lstStyle/>
          <a:p>
            <a:pPr algn="r" indent="0" marL="0">
              <a:buNone/>
            </a:pPr>
            <a:r>
              <a:rPr lang="en-US" sz="1800" b="1" dirty="0">
                <a:solidFill>
                  <a:srgbClr val="D9433C"/>
                </a:solidFill>
                <a:latin typeface="Montserrat" pitchFamily="34" charset="0"/>
                <a:ea typeface="Montserrat" pitchFamily="34" charset="-122"/>
                <a:cs typeface="Montserrat" pitchFamily="34" charset="-120"/>
              </a:rPr>
              <a:t>$15</a:t>
            </a:r>
            <a:endParaRPr lang="en-US" sz="1800" dirty="0"/>
          </a:p>
        </p:txBody>
      </p:sp>
      <p:sp>
        <p:nvSpPr>
          <p:cNvPr id="15" name="Text 12"/>
          <p:cNvSpPr/>
          <p:nvPr/>
        </p:nvSpPr>
        <p:spPr>
          <a:xfrm>
            <a:off x="5760720" y="4443984"/>
            <a:ext cx="1600200" cy="320040"/>
          </a:xfrm>
          <a:prstGeom prst="rect">
            <a:avLst/>
          </a:prstGeom>
          <a:noFill/>
          <a:ln/>
        </p:spPr>
        <p:txBody>
          <a:bodyPr wrap="square" lIns="0" tIns="0" rIns="0" bIns="0" rtlCol="0" anchor="ctr"/>
          <a:lstStyle/>
          <a:p>
            <a:pPr algn="r" indent="0" marL="0">
              <a:buNone/>
            </a:pPr>
            <a:r>
              <a:rPr lang="en-US" sz="1150" i="1" dirty="0">
                <a:solidFill>
                  <a:srgbClr val="E8722C"/>
                </a:solidFill>
                <a:latin typeface="Calibri" pitchFamily="34" charset="0"/>
                <a:ea typeface="Calibri" pitchFamily="34" charset="-122"/>
                <a:cs typeface="Calibri" pitchFamily="34" charset="-120"/>
              </a:rPr>
              <a:t>🔥 most ordered</a:t>
            </a:r>
            <a:endParaRPr lang="en-US" sz="1150" dirty="0"/>
          </a:p>
        </p:txBody>
      </p:sp>
      <p:sp>
        <p:nvSpPr>
          <p:cNvPr id="16" name="Shape 13"/>
          <p:cNvSpPr/>
          <p:nvPr/>
        </p:nvSpPr>
        <p:spPr>
          <a:xfrm>
            <a:off x="1188720" y="5010912"/>
            <a:ext cx="5943600" cy="0"/>
          </a:xfrm>
          <a:prstGeom prst="line">
            <a:avLst/>
          </a:prstGeom>
          <a:noFill/>
          <a:ln w="12700">
            <a:solidFill>
              <a:srgbClr val="EADBC4"/>
            </a:solidFill>
            <a:prstDash val="dash"/>
          </a:ln>
        </p:spPr>
      </p:sp>
      <p:sp>
        <p:nvSpPr>
          <p:cNvPr id="17" name="Text 14"/>
          <p:cNvSpPr/>
          <p:nvPr/>
        </p:nvSpPr>
        <p:spPr>
          <a:xfrm>
            <a:off x="1188720" y="5212080"/>
            <a:ext cx="5074920" cy="365760"/>
          </a:xfrm>
          <a:prstGeom prst="rect">
            <a:avLst/>
          </a:prstGeom>
          <a:noFill/>
          <a:ln/>
        </p:spPr>
        <p:txBody>
          <a:bodyPr wrap="square" lIns="0" tIns="0" rIns="0" bIns="0" rtlCol="0" anchor="ctr"/>
          <a:lstStyle/>
          <a:p>
            <a:pPr indent="0" marL="0">
              <a:buNone/>
            </a:pPr>
            <a:r>
              <a:rPr lang="en-US" sz="1800" b="1" dirty="0">
                <a:solidFill>
                  <a:srgbClr val="2B1B14"/>
                </a:solidFill>
                <a:latin typeface="Montserrat" pitchFamily="34" charset="0"/>
                <a:ea typeface="Montserrat" pitchFamily="34" charset="-122"/>
                <a:cs typeface="Montserrat" pitchFamily="34" charset="-120"/>
              </a:rPr>
              <a:t>Fries</a:t>
            </a:r>
            <a:endParaRPr lang="en-US" sz="1800" dirty="0"/>
          </a:p>
        </p:txBody>
      </p:sp>
      <p:sp>
        <p:nvSpPr>
          <p:cNvPr id="18" name="Text 15"/>
          <p:cNvSpPr/>
          <p:nvPr/>
        </p:nvSpPr>
        <p:spPr>
          <a:xfrm>
            <a:off x="6217920" y="5212080"/>
            <a:ext cx="960120" cy="365760"/>
          </a:xfrm>
          <a:prstGeom prst="rect">
            <a:avLst/>
          </a:prstGeom>
          <a:noFill/>
          <a:ln/>
        </p:spPr>
        <p:txBody>
          <a:bodyPr wrap="square" lIns="0" tIns="0" rIns="0" bIns="0" rtlCol="0" anchor="ctr"/>
          <a:lstStyle/>
          <a:p>
            <a:pPr algn="r" indent="0" marL="0">
              <a:buNone/>
            </a:pPr>
            <a:r>
              <a:rPr lang="en-US" sz="1800" b="1" dirty="0">
                <a:solidFill>
                  <a:srgbClr val="2B1B14"/>
                </a:solidFill>
                <a:latin typeface="Montserrat" pitchFamily="34" charset="0"/>
                <a:ea typeface="Montserrat" pitchFamily="34" charset="-122"/>
                <a:cs typeface="Montserrat" pitchFamily="34" charset="-120"/>
              </a:rPr>
              <a:t>$5</a:t>
            </a:r>
            <a:endParaRPr lang="en-US" sz="1800" dirty="0"/>
          </a:p>
        </p:txBody>
      </p:sp>
      <p:sp>
        <p:nvSpPr>
          <p:cNvPr id="19" name="Text 16"/>
          <p:cNvSpPr/>
          <p:nvPr/>
        </p:nvSpPr>
        <p:spPr>
          <a:xfrm>
            <a:off x="7955280" y="2057400"/>
            <a:ext cx="4023360" cy="868680"/>
          </a:xfrm>
          <a:prstGeom prst="rect">
            <a:avLst/>
          </a:prstGeom>
          <a:noFill/>
          <a:ln/>
        </p:spPr>
        <p:txBody>
          <a:bodyPr wrap="square" lIns="0" tIns="0" rIns="0" bIns="0" rtlCol="0" anchor="ctr"/>
          <a:lstStyle/>
          <a:p>
            <a:pPr indent="0" marL="0">
              <a:buNone/>
            </a:pPr>
            <a:r>
              <a:rPr lang="en-US" sz="2400" b="1" dirty="0">
                <a:solidFill>
                  <a:srgbClr val="2B1B14"/>
                </a:solidFill>
                <a:latin typeface="Montserrat" pitchFamily="34" charset="0"/>
                <a:ea typeface="Montserrat" pitchFamily="34" charset="-122"/>
                <a:cs typeface="Montserrat" pitchFamily="34" charset="-120"/>
              </a:rPr>
              <a:t>Which one would you order?</a:t>
            </a:r>
            <a:endParaRPr lang="en-US" sz="2400" dirty="0"/>
          </a:p>
        </p:txBody>
      </p:sp>
      <p:pic>
        <p:nvPicPr>
          <p:cNvPr id="20" name="Image 0" descr="/home/user/Wristworkswebsite/presentation/p3_burger.png">    </p:cNvPr>
          <p:cNvPicPr>
            <a:picLocks noChangeAspect="1"/>
          </p:cNvPicPr>
          <p:nvPr/>
        </p:nvPicPr>
        <p:blipFill>
          <a:blip r:embed="rId2"/>
          <a:stretch>
            <a:fillRect/>
          </a:stretch>
        </p:blipFill>
        <p:spPr>
          <a:xfrm>
            <a:off x="8549640" y="2852928"/>
            <a:ext cx="2606040" cy="1527048"/>
          </a:xfrm>
          <a:prstGeom prst="rect">
            <a:avLst/>
          </a:prstGeom>
          <a:effectLst>
            <a:outerShdw sx="100000" sy="100000" kx="0" ky="0" algn="bl" rotWithShape="0" blurRad="177800" dist="76200" dir="5400000">
              <a:srgbClr val="1C1109">
                <a:alpha val="45000"/>
              </a:srgbClr>
            </a:outerShdw>
          </a:effectLst>
        </p:spPr>
      </p:pic>
      <p:sp>
        <p:nvSpPr>
          <p:cNvPr id="21" name="Text 17"/>
          <p:cNvSpPr/>
          <p:nvPr/>
        </p:nvSpPr>
        <p:spPr>
          <a:xfrm>
            <a:off x="7955280" y="4572000"/>
            <a:ext cx="4023360" cy="411480"/>
          </a:xfrm>
          <a:prstGeom prst="rect">
            <a:avLst/>
          </a:prstGeom>
          <a:noFill/>
          <a:ln/>
        </p:spPr>
        <p:txBody>
          <a:bodyPr wrap="square" lIns="0" tIns="0" rIns="0" bIns="0" rtlCol="0" anchor="ctr"/>
          <a:lstStyle/>
          <a:p>
            <a:pPr algn="ctr" indent="0" marL="0">
              <a:buNone/>
            </a:pPr>
            <a:r>
              <a:rPr lang="en-US" sz="1600" i="1" dirty="0">
                <a:solidFill>
                  <a:srgbClr val="D9433C"/>
                </a:solidFill>
                <a:latin typeface="Calibri" pitchFamily="34" charset="0"/>
                <a:ea typeface="Calibri" pitchFamily="34" charset="-122"/>
                <a:cs typeface="Calibri" pitchFamily="34" charset="-120"/>
              </a:rPr>
              <a:t>Same beef. Different words.</a:t>
            </a:r>
            <a:endParaRPr lang="en-US" sz="1600" dirty="0"/>
          </a:p>
        </p:txBody>
      </p:sp>
      <p:sp>
        <p:nvSpPr>
          <p:cNvPr id="22" name="Shape 18"/>
          <p:cNvSpPr/>
          <p:nvPr/>
        </p:nvSpPr>
        <p:spPr>
          <a:xfrm>
            <a:off x="7955280" y="5074920"/>
            <a:ext cx="4023360" cy="1097280"/>
          </a:xfrm>
          <a:prstGeom prst="roundRect">
            <a:avLst>
              <a:gd name="adj" fmla="val 13333"/>
            </a:avLst>
          </a:prstGeom>
          <a:solidFill>
            <a:srgbClr val="3A2318"/>
          </a:solidFill>
          <a:ln/>
          <a:effectLst>
            <a:outerShdw sx="100000" sy="100000" kx="0" ky="0" algn="bl" rotWithShape="0" blurRad="152400" dist="50800" dir="5400000">
              <a:srgbClr val="7a3b1d">
                <a:alpha val="50000"/>
              </a:srgbClr>
            </a:outerShdw>
          </a:effectLst>
        </p:spPr>
      </p:sp>
      <p:sp>
        <p:nvSpPr>
          <p:cNvPr id="23" name="Text 19"/>
          <p:cNvSpPr/>
          <p:nvPr/>
        </p:nvSpPr>
        <p:spPr>
          <a:xfrm>
            <a:off x="8138160" y="5212080"/>
            <a:ext cx="3657600" cy="457200"/>
          </a:xfrm>
          <a:prstGeom prst="rect">
            <a:avLst/>
          </a:prstGeom>
          <a:noFill/>
          <a:ln/>
        </p:spPr>
        <p:txBody>
          <a:bodyPr wrap="square" lIns="0" tIns="0" rIns="0" bIns="0" rtlCol="0" anchor="ctr"/>
          <a:lstStyle/>
          <a:p>
            <a:pPr algn="ctr" indent="0" marL="0">
              <a:buNone/>
            </a:pPr>
            <a:r>
              <a:rPr lang="en-US" sz="1500" b="1" dirty="0">
                <a:solidFill>
                  <a:srgbClr val="FDF6EC"/>
                </a:solidFill>
                <a:latin typeface="Montserrat" pitchFamily="34" charset="0"/>
                <a:ea typeface="Montserrat" pitchFamily="34" charset="-122"/>
                <a:cs typeface="Montserrat" pitchFamily="34" charset="-120"/>
              </a:rPr>
              <a:t>Words </a:t>
            </a:r>
            <a:pPr algn="ctr" indent="0" marL="0">
              <a:buNone/>
            </a:pPr>
            <a:r>
              <a:rPr lang="en-US" sz="1500" b="1" dirty="0">
                <a:solidFill>
                  <a:srgbClr val="E8722C"/>
                </a:solidFill>
                <a:latin typeface="Montserrat" pitchFamily="34" charset="0"/>
                <a:ea typeface="Montserrat" pitchFamily="34" charset="-122"/>
                <a:cs typeface="Montserrat" pitchFamily="34" charset="-120"/>
              </a:rPr>
              <a:t>+ </a:t>
            </a:r>
            <a:pPr algn="ctr" indent="0" marL="0">
              <a:buNone/>
            </a:pPr>
            <a:r>
              <a:rPr lang="en-US" sz="1500" b="1" dirty="0">
                <a:solidFill>
                  <a:srgbClr val="FDF6EC"/>
                </a:solidFill>
                <a:latin typeface="Montserrat" pitchFamily="34" charset="0"/>
                <a:ea typeface="Montserrat" pitchFamily="34" charset="-122"/>
                <a:cs typeface="Montserrat" pitchFamily="34" charset="-120"/>
              </a:rPr>
              <a:t>Layout </a:t>
            </a:r>
            <a:pPr algn="ctr" indent="0" marL="0">
              <a:buNone/>
            </a:pPr>
            <a:r>
              <a:rPr lang="en-US" sz="1500" b="1" dirty="0">
                <a:solidFill>
                  <a:srgbClr val="E8722C"/>
                </a:solidFill>
                <a:latin typeface="Montserrat" pitchFamily="34" charset="0"/>
                <a:ea typeface="Montserrat" pitchFamily="34" charset="-122"/>
                <a:cs typeface="Montserrat" pitchFamily="34" charset="-120"/>
              </a:rPr>
              <a:t>+ </a:t>
            </a:r>
            <a:pPr algn="ctr" indent="0" marL="0">
              <a:buNone/>
            </a:pPr>
            <a:r>
              <a:rPr lang="en-US" sz="1500" b="1" dirty="0">
                <a:solidFill>
                  <a:srgbClr val="FDF6EC"/>
                </a:solidFill>
                <a:latin typeface="Montserrat" pitchFamily="34" charset="0"/>
                <a:ea typeface="Montserrat" pitchFamily="34" charset="-122"/>
                <a:cs typeface="Montserrat" pitchFamily="34" charset="-120"/>
              </a:rPr>
              <a:t>Presentation</a:t>
            </a:r>
            <a:endParaRPr lang="en-US" sz="1500" dirty="0"/>
          </a:p>
        </p:txBody>
      </p:sp>
      <p:sp>
        <p:nvSpPr>
          <p:cNvPr id="24" name="Text 20"/>
          <p:cNvSpPr/>
          <p:nvPr/>
        </p:nvSpPr>
        <p:spPr>
          <a:xfrm>
            <a:off x="8138160" y="5623560"/>
            <a:ext cx="3657600" cy="457200"/>
          </a:xfrm>
          <a:prstGeom prst="rect">
            <a:avLst/>
          </a:prstGeom>
          <a:noFill/>
          <a:ln/>
        </p:spPr>
        <p:txBody>
          <a:bodyPr wrap="square" lIns="0" tIns="0" rIns="0" bIns="0" rtlCol="0" anchor="ctr"/>
          <a:lstStyle/>
          <a:p>
            <a:pPr algn="ctr" indent="0" marL="0">
              <a:buNone/>
            </a:pPr>
            <a:r>
              <a:rPr lang="en-US" sz="2100" b="1" dirty="0">
                <a:solidFill>
                  <a:srgbClr val="E8722C"/>
                </a:solidFill>
                <a:latin typeface="Montserrat" pitchFamily="34" charset="0"/>
                <a:ea typeface="Montserrat" pitchFamily="34" charset="-122"/>
                <a:cs typeface="Montserrat" pitchFamily="34" charset="-120"/>
              </a:rPr>
              <a:t>= influence 🍴</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548640"/>
            <a:ext cx="2194560" cy="457200"/>
          </a:xfrm>
          <a:prstGeom prst="roundRect">
            <a:avLst>
              <a:gd name="adj" fmla="val 50000"/>
            </a:avLst>
          </a:prstGeom>
          <a:solidFill>
            <a:srgbClr val="FDF6EC"/>
          </a:solidFill>
          <a:ln/>
        </p:spPr>
      </p:sp>
      <p:sp>
        <p:nvSpPr>
          <p:cNvPr id="4" name="Text 1"/>
          <p:cNvSpPr/>
          <p:nvPr/>
        </p:nvSpPr>
        <p:spPr>
          <a:xfrm>
            <a:off x="685800" y="548640"/>
            <a:ext cx="2194560" cy="457200"/>
          </a:xfrm>
          <a:prstGeom prst="rect">
            <a:avLst/>
          </a:prstGeom>
          <a:noFill/>
          <a:ln/>
        </p:spPr>
        <p:txBody>
          <a:bodyPr wrap="square" lIns="0" tIns="0" rIns="0" bIns="0" rtlCol="0" anchor="ctr"/>
          <a:lstStyle/>
          <a:p>
            <a:pPr algn="ctr" indent="0" marL="0">
              <a:buNone/>
            </a:pPr>
            <a:r>
              <a:rPr lang="en-US" sz="1300" b="1" spc="200" kern="0" dirty="0">
                <a:solidFill>
                  <a:srgbClr val="3A2318"/>
                </a:solidFill>
                <a:latin typeface="Montserrat" pitchFamily="34" charset="0"/>
                <a:ea typeface="Montserrat" pitchFamily="34" charset="-122"/>
                <a:cs typeface="Montserrat" pitchFamily="34" charset="-120"/>
              </a:rPr>
              <a:t>03 · EMOTION</a:t>
            </a:r>
            <a:endParaRPr lang="en-US" sz="1300" dirty="0"/>
          </a:p>
        </p:txBody>
      </p:sp>
      <p:sp>
        <p:nvSpPr>
          <p:cNvPr id="5" name="Text 2"/>
          <p:cNvSpPr/>
          <p:nvPr/>
        </p:nvSpPr>
        <p:spPr>
          <a:xfrm>
            <a:off x="640080" y="1078992"/>
            <a:ext cx="11338560" cy="822960"/>
          </a:xfrm>
          <a:prstGeom prst="rect">
            <a:avLst/>
          </a:prstGeom>
          <a:noFill/>
          <a:ln/>
        </p:spPr>
        <p:txBody>
          <a:bodyPr wrap="square" lIns="0" tIns="0" rIns="0" bIns="0" rtlCol="0" anchor="ctr"/>
          <a:lstStyle/>
          <a:p>
            <a:pPr indent="0" marL="0">
              <a:buNone/>
            </a:pPr>
            <a:r>
              <a:rPr lang="en-US" sz="3500" b="1" dirty="0">
                <a:solidFill>
                  <a:srgbClr val="FDF6EC"/>
                </a:solidFill>
                <a:latin typeface="Montserrat" pitchFamily="34" charset="0"/>
                <a:ea typeface="Montserrat" pitchFamily="34" charset="-122"/>
                <a:cs typeface="Montserrat" pitchFamily="34" charset="-120"/>
              </a:rPr>
              <a:t>WHY DOES FOOD BRING BACK MEMORIES? </a:t>
            </a:r>
            <a:pPr indent="0" marL="0">
              <a:buNone/>
            </a:pPr>
            <a:r>
              <a:rPr lang="en-US" sz="3500" b="1" dirty="0">
                <a:solidFill>
                  <a:srgbClr val="000000"/>
                </a:solidFill>
                <a:latin typeface="Montserrat" pitchFamily="34" charset="0"/>
                <a:ea typeface="Montserrat" pitchFamily="34" charset="-122"/>
                <a:cs typeface="Montserrat" pitchFamily="34" charset="-120"/>
              </a:rPr>
              <a:t>❤️</a:t>
            </a:r>
            <a:endParaRPr lang="en-US" sz="3500" dirty="0"/>
          </a:p>
        </p:txBody>
      </p:sp>
      <p:pic>
        <p:nvPicPr>
          <p:cNvPr id="6" name="Image 0" descr="/home/user/Wristworkswebsite/presentation/p4_curry.png">    </p:cNvPr>
          <p:cNvPicPr>
            <a:picLocks noChangeAspect="1"/>
          </p:cNvPicPr>
          <p:nvPr/>
        </p:nvPicPr>
        <p:blipFill>
          <a:blip r:embed="rId2"/>
          <a:stretch>
            <a:fillRect/>
          </a:stretch>
        </p:blipFill>
        <p:spPr>
          <a:xfrm>
            <a:off x="685800" y="2148840"/>
            <a:ext cx="1938528" cy="2194560"/>
          </a:xfrm>
          <a:prstGeom prst="rect">
            <a:avLst/>
          </a:prstGeom>
          <a:effectLst>
            <a:outerShdw sx="100000" sy="100000" kx="0" ky="0" algn="bl" rotWithShape="0" blurRad="177800" dist="76200" dir="5400000">
              <a:srgbClr val="1C1109">
                <a:alpha val="55000"/>
              </a:srgbClr>
            </a:outerShdw>
          </a:effectLst>
        </p:spPr>
      </p:pic>
      <p:sp>
        <p:nvSpPr>
          <p:cNvPr id="7" name="Shape 3"/>
          <p:cNvSpPr/>
          <p:nvPr/>
        </p:nvSpPr>
        <p:spPr>
          <a:xfrm>
            <a:off x="813816" y="3867912"/>
            <a:ext cx="1682496" cy="365760"/>
          </a:xfrm>
          <a:prstGeom prst="roundRect">
            <a:avLst>
              <a:gd name="adj" fmla="val 50000"/>
            </a:avLst>
          </a:prstGeom>
          <a:solidFill>
            <a:srgbClr val="1C1109"/>
          </a:solidFill>
          <a:ln/>
        </p:spPr>
      </p:sp>
      <p:sp>
        <p:nvSpPr>
          <p:cNvPr id="8" name="Text 4"/>
          <p:cNvSpPr/>
          <p:nvPr/>
        </p:nvSpPr>
        <p:spPr>
          <a:xfrm>
            <a:off x="813816" y="3867912"/>
            <a:ext cx="1682496" cy="365760"/>
          </a:xfrm>
          <a:prstGeom prst="rect">
            <a:avLst/>
          </a:prstGeom>
          <a:noFill/>
          <a:ln/>
        </p:spPr>
        <p:txBody>
          <a:bodyPr wrap="square" lIns="0" tIns="0" rIns="0" bIns="0" rtlCol="0" anchor="ctr"/>
          <a:lstStyle/>
          <a:p>
            <a:pPr algn="ctr" indent="0" marL="0">
              <a:buNone/>
            </a:pPr>
            <a:r>
              <a:rPr lang="en-US" sz="1150" b="1" spc="100" kern="0" dirty="0">
                <a:solidFill>
                  <a:srgbClr val="FDF6EC"/>
                </a:solidFill>
                <a:latin typeface="Montserrat" pitchFamily="34" charset="0"/>
                <a:ea typeface="Montserrat" pitchFamily="34" charset="-122"/>
                <a:cs typeface="Montserrat" pitchFamily="34" charset="-120"/>
              </a:rPr>
              <a:t>RICE &amp; CURRY</a:t>
            </a:r>
            <a:endParaRPr lang="en-US" sz="1150" dirty="0"/>
          </a:p>
        </p:txBody>
      </p:sp>
      <p:pic>
        <p:nvPicPr>
          <p:cNvPr id="9" name="Image 1" descr="/home/user/Wristworkswebsite/presentation/p4_biryani.png">    </p:cNvPr>
          <p:cNvPicPr>
            <a:picLocks noChangeAspect="1"/>
          </p:cNvPicPr>
          <p:nvPr/>
        </p:nvPicPr>
        <p:blipFill>
          <a:blip r:embed="rId3"/>
          <a:stretch>
            <a:fillRect/>
          </a:stretch>
        </p:blipFill>
        <p:spPr>
          <a:xfrm>
            <a:off x="2916936" y="2148840"/>
            <a:ext cx="1938528" cy="2194560"/>
          </a:xfrm>
          <a:prstGeom prst="rect">
            <a:avLst/>
          </a:prstGeom>
          <a:effectLst>
            <a:outerShdw sx="100000" sy="100000" kx="0" ky="0" algn="bl" rotWithShape="0" blurRad="177800" dist="76200" dir="5400000">
              <a:srgbClr val="1C1109">
                <a:alpha val="55000"/>
              </a:srgbClr>
            </a:outerShdw>
          </a:effectLst>
        </p:spPr>
      </p:pic>
      <p:sp>
        <p:nvSpPr>
          <p:cNvPr id="10" name="Shape 5"/>
          <p:cNvSpPr/>
          <p:nvPr/>
        </p:nvSpPr>
        <p:spPr>
          <a:xfrm>
            <a:off x="3044952" y="3867912"/>
            <a:ext cx="1682496" cy="365760"/>
          </a:xfrm>
          <a:prstGeom prst="roundRect">
            <a:avLst>
              <a:gd name="adj" fmla="val 50000"/>
            </a:avLst>
          </a:prstGeom>
          <a:solidFill>
            <a:srgbClr val="1C1109"/>
          </a:solidFill>
          <a:ln/>
        </p:spPr>
      </p:sp>
      <p:sp>
        <p:nvSpPr>
          <p:cNvPr id="11" name="Text 6"/>
          <p:cNvSpPr/>
          <p:nvPr/>
        </p:nvSpPr>
        <p:spPr>
          <a:xfrm>
            <a:off x="3044952" y="3867912"/>
            <a:ext cx="1682496" cy="365760"/>
          </a:xfrm>
          <a:prstGeom prst="rect">
            <a:avLst/>
          </a:prstGeom>
          <a:noFill/>
          <a:ln/>
        </p:spPr>
        <p:txBody>
          <a:bodyPr wrap="square" lIns="0" tIns="0" rIns="0" bIns="0" rtlCol="0" anchor="ctr"/>
          <a:lstStyle/>
          <a:p>
            <a:pPr algn="ctr" indent="0" marL="0">
              <a:buNone/>
            </a:pPr>
            <a:r>
              <a:rPr lang="en-US" sz="1150" b="1" spc="100" kern="0" dirty="0">
                <a:solidFill>
                  <a:srgbClr val="FDF6EC"/>
                </a:solidFill>
                <a:latin typeface="Montserrat" pitchFamily="34" charset="0"/>
                <a:ea typeface="Montserrat" pitchFamily="34" charset="-122"/>
                <a:cs typeface="Montserrat" pitchFamily="34" charset="-120"/>
              </a:rPr>
              <a:t>BIRYANI</a:t>
            </a:r>
            <a:endParaRPr lang="en-US" sz="1150" dirty="0"/>
          </a:p>
        </p:txBody>
      </p:sp>
      <p:pic>
        <p:nvPicPr>
          <p:cNvPr id="12" name="Image 2" descr="/home/user/Wristworkswebsite/presentation/p4_platter.png">    </p:cNvPr>
          <p:cNvPicPr>
            <a:picLocks noChangeAspect="1"/>
          </p:cNvPicPr>
          <p:nvPr/>
        </p:nvPicPr>
        <p:blipFill>
          <a:blip r:embed="rId4"/>
          <a:stretch>
            <a:fillRect/>
          </a:stretch>
        </p:blipFill>
        <p:spPr>
          <a:xfrm>
            <a:off x="5148072" y="2148840"/>
            <a:ext cx="1938528" cy="2194560"/>
          </a:xfrm>
          <a:prstGeom prst="rect">
            <a:avLst/>
          </a:prstGeom>
          <a:effectLst>
            <a:outerShdw sx="100000" sy="100000" kx="0" ky="0" algn="bl" rotWithShape="0" blurRad="177800" dist="76200" dir="5400000">
              <a:srgbClr val="1C1109">
                <a:alpha val="55000"/>
              </a:srgbClr>
            </a:outerShdw>
          </a:effectLst>
        </p:spPr>
      </p:pic>
      <p:sp>
        <p:nvSpPr>
          <p:cNvPr id="13" name="Shape 7"/>
          <p:cNvSpPr/>
          <p:nvPr/>
        </p:nvSpPr>
        <p:spPr>
          <a:xfrm>
            <a:off x="5276088" y="3867912"/>
            <a:ext cx="1682496" cy="365760"/>
          </a:xfrm>
          <a:prstGeom prst="roundRect">
            <a:avLst>
              <a:gd name="adj" fmla="val 50000"/>
            </a:avLst>
          </a:prstGeom>
          <a:solidFill>
            <a:srgbClr val="1C1109"/>
          </a:solidFill>
          <a:ln/>
        </p:spPr>
      </p:sp>
      <p:sp>
        <p:nvSpPr>
          <p:cNvPr id="14" name="Text 8"/>
          <p:cNvSpPr/>
          <p:nvPr/>
        </p:nvSpPr>
        <p:spPr>
          <a:xfrm>
            <a:off x="5276088" y="3867912"/>
            <a:ext cx="1682496" cy="365760"/>
          </a:xfrm>
          <a:prstGeom prst="rect">
            <a:avLst/>
          </a:prstGeom>
          <a:noFill/>
          <a:ln/>
        </p:spPr>
        <p:txBody>
          <a:bodyPr wrap="square" lIns="0" tIns="0" rIns="0" bIns="0" rtlCol="0" anchor="ctr"/>
          <a:lstStyle/>
          <a:p>
            <a:pPr algn="ctr" indent="0" marL="0">
              <a:buNone/>
            </a:pPr>
            <a:r>
              <a:rPr lang="en-US" sz="1150" b="1" spc="100" kern="0" dirty="0">
                <a:solidFill>
                  <a:srgbClr val="FDF6EC"/>
                </a:solidFill>
                <a:latin typeface="Montserrat" pitchFamily="34" charset="0"/>
                <a:ea typeface="Montserrat" pitchFamily="34" charset="-122"/>
                <a:cs typeface="Montserrat" pitchFamily="34" charset="-120"/>
              </a:rPr>
              <a:t>FAMILY PLATTER</a:t>
            </a:r>
            <a:endParaRPr lang="en-US" sz="1150" dirty="0"/>
          </a:p>
        </p:txBody>
      </p:sp>
      <p:pic>
        <p:nvPicPr>
          <p:cNvPr id="15" name="Image 3" descr="/home/user/Wristworkswebsite/presentation/p4_pizza.png">    </p:cNvPr>
          <p:cNvPicPr>
            <a:picLocks noChangeAspect="1"/>
          </p:cNvPicPr>
          <p:nvPr/>
        </p:nvPicPr>
        <p:blipFill>
          <a:blip r:embed="rId5"/>
          <a:stretch>
            <a:fillRect/>
          </a:stretch>
        </p:blipFill>
        <p:spPr>
          <a:xfrm>
            <a:off x="7379208" y="2148840"/>
            <a:ext cx="1938528" cy="2194560"/>
          </a:xfrm>
          <a:prstGeom prst="rect">
            <a:avLst/>
          </a:prstGeom>
          <a:effectLst>
            <a:outerShdw sx="100000" sy="100000" kx="0" ky="0" algn="bl" rotWithShape="0" blurRad="177800" dist="76200" dir="5400000">
              <a:srgbClr val="1C1109">
                <a:alpha val="55000"/>
              </a:srgbClr>
            </a:outerShdw>
          </a:effectLst>
        </p:spPr>
      </p:pic>
      <p:sp>
        <p:nvSpPr>
          <p:cNvPr id="16" name="Shape 9"/>
          <p:cNvSpPr/>
          <p:nvPr/>
        </p:nvSpPr>
        <p:spPr>
          <a:xfrm>
            <a:off x="7507224" y="3867912"/>
            <a:ext cx="1682496" cy="365760"/>
          </a:xfrm>
          <a:prstGeom prst="roundRect">
            <a:avLst>
              <a:gd name="adj" fmla="val 50000"/>
            </a:avLst>
          </a:prstGeom>
          <a:solidFill>
            <a:srgbClr val="1C1109"/>
          </a:solidFill>
          <a:ln/>
        </p:spPr>
      </p:sp>
      <p:sp>
        <p:nvSpPr>
          <p:cNvPr id="17" name="Text 10"/>
          <p:cNvSpPr/>
          <p:nvPr/>
        </p:nvSpPr>
        <p:spPr>
          <a:xfrm>
            <a:off x="7507224" y="3867912"/>
            <a:ext cx="1682496" cy="365760"/>
          </a:xfrm>
          <a:prstGeom prst="rect">
            <a:avLst/>
          </a:prstGeom>
          <a:noFill/>
          <a:ln/>
        </p:spPr>
        <p:txBody>
          <a:bodyPr wrap="square" lIns="0" tIns="0" rIns="0" bIns="0" rtlCol="0" anchor="ctr"/>
          <a:lstStyle/>
          <a:p>
            <a:pPr algn="ctr" indent="0" marL="0">
              <a:buNone/>
            </a:pPr>
            <a:r>
              <a:rPr lang="en-US" sz="1150" b="1" spc="100" kern="0" dirty="0">
                <a:solidFill>
                  <a:srgbClr val="FDF6EC"/>
                </a:solidFill>
                <a:latin typeface="Montserrat" pitchFamily="34" charset="0"/>
                <a:ea typeface="Montserrat" pitchFamily="34" charset="-122"/>
                <a:cs typeface="Montserrat" pitchFamily="34" charset="-120"/>
              </a:rPr>
              <a:t>PIZZA NIGHT</a:t>
            </a:r>
            <a:endParaRPr lang="en-US" sz="1150" dirty="0"/>
          </a:p>
        </p:txBody>
      </p:sp>
      <p:pic>
        <p:nvPicPr>
          <p:cNvPr id="18" name="Image 4" descr="/home/user/Wristworkswebsite/presentation/p4_butter.png">    </p:cNvPr>
          <p:cNvPicPr>
            <a:picLocks noChangeAspect="1"/>
          </p:cNvPicPr>
          <p:nvPr/>
        </p:nvPicPr>
        <p:blipFill>
          <a:blip r:embed="rId6"/>
          <a:stretch>
            <a:fillRect/>
          </a:stretch>
        </p:blipFill>
        <p:spPr>
          <a:xfrm>
            <a:off x="9610344" y="2148840"/>
            <a:ext cx="1938528" cy="2194560"/>
          </a:xfrm>
          <a:prstGeom prst="rect">
            <a:avLst/>
          </a:prstGeom>
          <a:effectLst>
            <a:outerShdw sx="100000" sy="100000" kx="0" ky="0" algn="bl" rotWithShape="0" blurRad="177800" dist="76200" dir="5400000">
              <a:srgbClr val="1C1109">
                <a:alpha val="55000"/>
              </a:srgbClr>
            </a:outerShdw>
          </a:effectLst>
        </p:spPr>
      </p:pic>
      <p:sp>
        <p:nvSpPr>
          <p:cNvPr id="19" name="Shape 11"/>
          <p:cNvSpPr/>
          <p:nvPr/>
        </p:nvSpPr>
        <p:spPr>
          <a:xfrm>
            <a:off x="9738360" y="3867912"/>
            <a:ext cx="1682496" cy="365760"/>
          </a:xfrm>
          <a:prstGeom prst="roundRect">
            <a:avLst>
              <a:gd name="adj" fmla="val 50000"/>
            </a:avLst>
          </a:prstGeom>
          <a:solidFill>
            <a:srgbClr val="1C1109"/>
          </a:solidFill>
          <a:ln/>
        </p:spPr>
      </p:sp>
      <p:sp>
        <p:nvSpPr>
          <p:cNvPr id="20" name="Text 12"/>
          <p:cNvSpPr/>
          <p:nvPr/>
        </p:nvSpPr>
        <p:spPr>
          <a:xfrm>
            <a:off x="9738360" y="3867912"/>
            <a:ext cx="1682496" cy="365760"/>
          </a:xfrm>
          <a:prstGeom prst="rect">
            <a:avLst/>
          </a:prstGeom>
          <a:noFill/>
          <a:ln/>
        </p:spPr>
        <p:txBody>
          <a:bodyPr wrap="square" lIns="0" tIns="0" rIns="0" bIns="0" rtlCol="0" anchor="ctr"/>
          <a:lstStyle/>
          <a:p>
            <a:pPr algn="ctr" indent="0" marL="0">
              <a:buNone/>
            </a:pPr>
            <a:r>
              <a:rPr lang="en-US" sz="1150" b="1" spc="100" kern="0" dirty="0">
                <a:solidFill>
                  <a:srgbClr val="FDF6EC"/>
                </a:solidFill>
                <a:latin typeface="Montserrat" pitchFamily="34" charset="0"/>
                <a:ea typeface="Montserrat" pitchFamily="34" charset="-122"/>
                <a:cs typeface="Montserrat" pitchFamily="34" charset="-120"/>
              </a:rPr>
              <a:t>BUTTER CHICKEN</a:t>
            </a:r>
            <a:endParaRPr lang="en-US" sz="1150" dirty="0"/>
          </a:p>
        </p:txBody>
      </p:sp>
      <p:sp>
        <p:nvSpPr>
          <p:cNvPr id="21" name="Text 13"/>
          <p:cNvSpPr/>
          <p:nvPr/>
        </p:nvSpPr>
        <p:spPr>
          <a:xfrm>
            <a:off x="658368" y="4754880"/>
            <a:ext cx="10972800" cy="731520"/>
          </a:xfrm>
          <a:prstGeom prst="rect">
            <a:avLst/>
          </a:prstGeom>
          <a:noFill/>
          <a:ln/>
        </p:spPr>
        <p:txBody>
          <a:bodyPr wrap="square" lIns="0" tIns="0" rIns="0" bIns="0" rtlCol="0" anchor="ctr"/>
          <a:lstStyle/>
          <a:p>
            <a:pPr indent="0" marL="0">
              <a:buNone/>
            </a:pPr>
            <a:r>
              <a:rPr lang="en-US" sz="3400" b="1" dirty="0">
                <a:solidFill>
                  <a:srgbClr val="FDF6EC"/>
                </a:solidFill>
                <a:latin typeface="Montserrat" pitchFamily="34" charset="0"/>
                <a:ea typeface="Montserrat" pitchFamily="34" charset="-122"/>
                <a:cs typeface="Montserrat" pitchFamily="34" charset="-120"/>
              </a:rPr>
              <a:t>WHAT FOOD REMINDS YOU OF HOME?</a:t>
            </a:r>
            <a:endParaRPr lang="en-US" sz="3400" dirty="0"/>
          </a:p>
        </p:txBody>
      </p:sp>
      <p:sp>
        <p:nvSpPr>
          <p:cNvPr id="22" name="Text 14"/>
          <p:cNvSpPr/>
          <p:nvPr/>
        </p:nvSpPr>
        <p:spPr>
          <a:xfrm>
            <a:off x="685800" y="5559552"/>
            <a:ext cx="10515600" cy="548640"/>
          </a:xfrm>
          <a:prstGeom prst="rect">
            <a:avLst/>
          </a:prstGeom>
          <a:noFill/>
          <a:ln/>
        </p:spPr>
        <p:txBody>
          <a:bodyPr wrap="square" lIns="0" tIns="0" rIns="0" bIns="0" rtlCol="0" anchor="ctr"/>
          <a:lstStyle/>
          <a:p>
            <a:pPr indent="0" marL="0">
              <a:buNone/>
            </a:pPr>
            <a:r>
              <a:rPr lang="en-US" sz="1900" i="1" dirty="0">
                <a:solidFill>
                  <a:srgbClr val="FBE7D2"/>
                </a:solidFill>
                <a:latin typeface="Calibri" pitchFamily="34" charset="0"/>
                <a:ea typeface="Calibri" pitchFamily="34" charset="-122"/>
                <a:cs typeface="Calibri" pitchFamily="34" charset="-120"/>
              </a:rPr>
              <a:t>Food is never just food — it's memories, people &amp; moments on a plate.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502920"/>
            <a:ext cx="2103120" cy="457200"/>
          </a:xfrm>
          <a:prstGeom prst="roundRect">
            <a:avLst>
              <a:gd name="adj" fmla="val 50000"/>
            </a:avLst>
          </a:prstGeom>
          <a:solidFill>
            <a:srgbClr val="E8722C"/>
          </a:solidFill>
          <a:ln/>
        </p:spPr>
      </p:sp>
      <p:sp>
        <p:nvSpPr>
          <p:cNvPr id="4" name="Text 1"/>
          <p:cNvSpPr/>
          <p:nvPr/>
        </p:nvSpPr>
        <p:spPr>
          <a:xfrm>
            <a:off x="685800" y="502920"/>
            <a:ext cx="2103120" cy="457200"/>
          </a:xfrm>
          <a:prstGeom prst="rect">
            <a:avLst/>
          </a:prstGeom>
          <a:noFill/>
          <a:ln/>
        </p:spPr>
        <p:txBody>
          <a:bodyPr wrap="square" lIns="0" tIns="0" rIns="0" bIns="0" rtlCol="0" anchor="ctr"/>
          <a:lstStyle/>
          <a:p>
            <a:pPr algn="ctr" indent="0" marL="0">
              <a:buNone/>
            </a:pPr>
            <a:r>
              <a:rPr lang="en-US" sz="1300" b="1" spc="200" kern="0" dirty="0">
                <a:solidFill>
                  <a:srgbClr val="1C1109"/>
                </a:solidFill>
                <a:latin typeface="Montserrat" pitchFamily="34" charset="0"/>
                <a:ea typeface="Montserrat" pitchFamily="34" charset="-122"/>
                <a:cs typeface="Montserrat" pitchFamily="34" charset="-120"/>
              </a:rPr>
              <a:t>THE VERDICT</a:t>
            </a:r>
            <a:endParaRPr lang="en-US" sz="1300" dirty="0"/>
          </a:p>
        </p:txBody>
      </p:sp>
      <p:sp>
        <p:nvSpPr>
          <p:cNvPr id="5" name="Text 2"/>
          <p:cNvSpPr/>
          <p:nvPr/>
        </p:nvSpPr>
        <p:spPr>
          <a:xfrm>
            <a:off x="640080" y="1005840"/>
            <a:ext cx="11338560" cy="822960"/>
          </a:xfrm>
          <a:prstGeom prst="rect">
            <a:avLst/>
          </a:prstGeom>
          <a:noFill/>
          <a:ln/>
        </p:spPr>
        <p:txBody>
          <a:bodyPr wrap="square" lIns="0" tIns="0" rIns="0" bIns="0" rtlCol="0" anchor="ctr"/>
          <a:lstStyle/>
          <a:p>
            <a:pPr indent="0" marL="0">
              <a:buNone/>
            </a:pPr>
            <a:r>
              <a:rPr lang="en-US" sz="3800" b="1" dirty="0">
                <a:solidFill>
                  <a:srgbClr val="FDF6EC"/>
                </a:solidFill>
                <a:latin typeface="Montserrat" pitchFamily="34" charset="0"/>
                <a:ea typeface="Montserrat" pitchFamily="34" charset="-122"/>
                <a:cs typeface="Montserrat" pitchFamily="34" charset="-120"/>
              </a:rPr>
              <a:t>ARE WE REALLY IN CONTROL? </a:t>
            </a:r>
            <a:pPr indent="0" marL="0">
              <a:buNone/>
            </a:pPr>
            <a:r>
              <a:rPr lang="en-US" sz="3800" b="1" dirty="0">
                <a:solidFill>
                  <a:srgbClr val="000000"/>
                </a:solidFill>
                <a:latin typeface="Montserrat" pitchFamily="34" charset="0"/>
                <a:ea typeface="Montserrat" pitchFamily="34" charset="-122"/>
                <a:cs typeface="Montserrat" pitchFamily="34" charset="-120"/>
              </a:rPr>
              <a:t>🧠</a:t>
            </a:r>
            <a:endParaRPr lang="en-US" sz="3800" dirty="0"/>
          </a:p>
        </p:txBody>
      </p:sp>
      <p:sp>
        <p:nvSpPr>
          <p:cNvPr id="6" name="Shape 3"/>
          <p:cNvSpPr/>
          <p:nvPr/>
        </p:nvSpPr>
        <p:spPr>
          <a:xfrm>
            <a:off x="777240" y="2011680"/>
            <a:ext cx="4754880" cy="658368"/>
          </a:xfrm>
          <a:prstGeom prst="roundRect">
            <a:avLst>
              <a:gd name="adj" fmla="val 19444"/>
            </a:avLst>
          </a:prstGeom>
          <a:solidFill>
            <a:srgbClr val="3A2318"/>
          </a:solidFill>
          <a:ln/>
          <a:effectLst>
            <a:outerShdw sx="100000" sy="100000" kx="0" ky="0" algn="bl" rotWithShape="0" blurRad="101600" dist="38100" dir="5400000">
              <a:srgbClr val="120a05">
                <a:alpha val="50000"/>
              </a:srgbClr>
            </a:outerShdw>
          </a:effectLst>
        </p:spPr>
      </p:sp>
      <p:pic>
        <p:nvPicPr>
          <p:cNvPr id="7" name="Image 0" descr="/home/user/Wristworkswebsite/presentation/icon_eye_l.png">    </p:cNvPr>
          <p:cNvPicPr>
            <a:picLocks noChangeAspect="1"/>
          </p:cNvPicPr>
          <p:nvPr/>
        </p:nvPicPr>
        <p:blipFill>
          <a:blip r:embed="rId2"/>
          <a:srcRect l="0" r="0" t="0" b="0"/>
          <a:stretch/>
        </p:blipFill>
        <p:spPr>
          <a:xfrm>
            <a:off x="923544" y="2130552"/>
            <a:ext cx="457200" cy="420624"/>
          </a:xfrm>
          <a:prstGeom prst="rect">
            <a:avLst/>
          </a:prstGeom>
        </p:spPr>
      </p:pic>
      <p:sp>
        <p:nvSpPr>
          <p:cNvPr id="8" name="Text 4"/>
          <p:cNvSpPr/>
          <p:nvPr/>
        </p:nvSpPr>
        <p:spPr>
          <a:xfrm>
            <a:off x="1527048" y="2011680"/>
            <a:ext cx="3840480" cy="658368"/>
          </a:xfrm>
          <a:prstGeom prst="rect">
            <a:avLst/>
          </a:prstGeom>
          <a:noFill/>
          <a:ln/>
        </p:spPr>
        <p:txBody>
          <a:bodyPr wrap="square" lIns="0" tIns="0" rIns="0" bIns="0" rtlCol="0" anchor="ctr"/>
          <a:lstStyle/>
          <a:p>
            <a:pPr algn="l" indent="0" marL="0">
              <a:buNone/>
            </a:pPr>
            <a:r>
              <a:rPr lang="en-US" sz="1800" b="1" dirty="0">
                <a:solidFill>
                  <a:srgbClr val="FDF6EC"/>
                </a:solidFill>
                <a:latin typeface="Montserrat" pitchFamily="34" charset="0"/>
                <a:ea typeface="Montserrat" pitchFamily="34" charset="-122"/>
                <a:cs typeface="Montserrat" pitchFamily="34" charset="-120"/>
              </a:rPr>
              <a:t>WHAT WE SEE</a:t>
            </a:r>
            <a:endParaRPr lang="en-US" sz="1800" dirty="0"/>
          </a:p>
        </p:txBody>
      </p:sp>
      <p:sp>
        <p:nvSpPr>
          <p:cNvPr id="9" name="Text 5"/>
          <p:cNvSpPr/>
          <p:nvPr/>
        </p:nvSpPr>
        <p:spPr>
          <a:xfrm>
            <a:off x="777240" y="2596896"/>
            <a:ext cx="4754880" cy="320040"/>
          </a:xfrm>
          <a:prstGeom prst="rect">
            <a:avLst/>
          </a:prstGeom>
          <a:noFill/>
          <a:ln/>
        </p:spPr>
        <p:txBody>
          <a:bodyPr wrap="square" lIns="0" tIns="0" rIns="0" bIns="0" rtlCol="0" anchor="ctr"/>
          <a:lstStyle/>
          <a:p>
            <a:pPr algn="ctr" indent="0" marL="0">
              <a:buNone/>
            </a:pPr>
            <a:r>
              <a:rPr lang="en-US" sz="1800" b="1" dirty="0">
                <a:solidFill>
                  <a:srgbClr val="E8722C"/>
                </a:solidFill>
                <a:latin typeface="Montserrat" pitchFamily="34" charset="0"/>
                <a:ea typeface="Montserrat" pitchFamily="34" charset="-122"/>
                <a:cs typeface="Montserrat" pitchFamily="34" charset="-120"/>
              </a:rPr>
              <a:t>↓</a:t>
            </a:r>
            <a:endParaRPr lang="en-US" sz="1800" dirty="0"/>
          </a:p>
        </p:txBody>
      </p:sp>
      <p:sp>
        <p:nvSpPr>
          <p:cNvPr id="10" name="Shape 6"/>
          <p:cNvSpPr/>
          <p:nvPr/>
        </p:nvSpPr>
        <p:spPr>
          <a:xfrm>
            <a:off x="777240" y="2834640"/>
            <a:ext cx="4754880" cy="658368"/>
          </a:xfrm>
          <a:prstGeom prst="roundRect">
            <a:avLst>
              <a:gd name="adj" fmla="val 19444"/>
            </a:avLst>
          </a:prstGeom>
          <a:solidFill>
            <a:srgbClr val="3A2318"/>
          </a:solidFill>
          <a:ln/>
          <a:effectLst>
            <a:outerShdw sx="100000" sy="100000" kx="0" ky="0" algn="bl" rotWithShape="0" blurRad="101600" dist="38100" dir="5400000">
              <a:srgbClr val="120a05">
                <a:alpha val="50000"/>
              </a:srgbClr>
            </a:outerShdw>
          </a:effectLst>
        </p:spPr>
      </p:sp>
      <p:pic>
        <p:nvPicPr>
          <p:cNvPr id="11" name="Image 1" descr="/home/user/Wristworkswebsite/presentation/icon_brain_l.png">    </p:cNvPr>
          <p:cNvPicPr>
            <a:picLocks noChangeAspect="1"/>
          </p:cNvPicPr>
          <p:nvPr/>
        </p:nvPicPr>
        <p:blipFill>
          <a:blip r:embed="rId3"/>
          <a:srcRect l="0" r="0" t="0" b="0"/>
          <a:stretch/>
        </p:blipFill>
        <p:spPr>
          <a:xfrm>
            <a:off x="923544" y="2953512"/>
            <a:ext cx="457200" cy="420624"/>
          </a:xfrm>
          <a:prstGeom prst="rect">
            <a:avLst/>
          </a:prstGeom>
        </p:spPr>
      </p:pic>
      <p:sp>
        <p:nvSpPr>
          <p:cNvPr id="12" name="Text 7"/>
          <p:cNvSpPr/>
          <p:nvPr/>
        </p:nvSpPr>
        <p:spPr>
          <a:xfrm>
            <a:off x="1527048" y="2834640"/>
            <a:ext cx="3840480" cy="658368"/>
          </a:xfrm>
          <a:prstGeom prst="rect">
            <a:avLst/>
          </a:prstGeom>
          <a:noFill/>
          <a:ln/>
        </p:spPr>
        <p:txBody>
          <a:bodyPr wrap="square" lIns="0" tIns="0" rIns="0" bIns="0" rtlCol="0" anchor="ctr"/>
          <a:lstStyle/>
          <a:p>
            <a:pPr algn="l" indent="0" marL="0">
              <a:buNone/>
            </a:pPr>
            <a:r>
              <a:rPr lang="en-US" sz="1800" b="1" dirty="0">
                <a:solidFill>
                  <a:srgbClr val="FDF6EC"/>
                </a:solidFill>
                <a:latin typeface="Montserrat" pitchFamily="34" charset="0"/>
                <a:ea typeface="Montserrat" pitchFamily="34" charset="-122"/>
                <a:cs typeface="Montserrat" pitchFamily="34" charset="-120"/>
              </a:rPr>
              <a:t>WHAT WE EXPECT</a:t>
            </a:r>
            <a:endParaRPr lang="en-US" sz="1800" dirty="0"/>
          </a:p>
        </p:txBody>
      </p:sp>
      <p:sp>
        <p:nvSpPr>
          <p:cNvPr id="13" name="Text 8"/>
          <p:cNvSpPr/>
          <p:nvPr/>
        </p:nvSpPr>
        <p:spPr>
          <a:xfrm>
            <a:off x="777240" y="3419856"/>
            <a:ext cx="4754880" cy="320040"/>
          </a:xfrm>
          <a:prstGeom prst="rect">
            <a:avLst/>
          </a:prstGeom>
          <a:noFill/>
          <a:ln/>
        </p:spPr>
        <p:txBody>
          <a:bodyPr wrap="square" lIns="0" tIns="0" rIns="0" bIns="0" rtlCol="0" anchor="ctr"/>
          <a:lstStyle/>
          <a:p>
            <a:pPr algn="ctr" indent="0" marL="0">
              <a:buNone/>
            </a:pPr>
            <a:r>
              <a:rPr lang="en-US" sz="1800" b="1" dirty="0">
                <a:solidFill>
                  <a:srgbClr val="E8722C"/>
                </a:solidFill>
                <a:latin typeface="Montserrat" pitchFamily="34" charset="0"/>
                <a:ea typeface="Montserrat" pitchFamily="34" charset="-122"/>
                <a:cs typeface="Montserrat" pitchFamily="34" charset="-120"/>
              </a:rPr>
              <a:t>↓</a:t>
            </a:r>
            <a:endParaRPr lang="en-US" sz="1800" dirty="0"/>
          </a:p>
        </p:txBody>
      </p:sp>
      <p:sp>
        <p:nvSpPr>
          <p:cNvPr id="14" name="Shape 9"/>
          <p:cNvSpPr/>
          <p:nvPr/>
        </p:nvSpPr>
        <p:spPr>
          <a:xfrm>
            <a:off x="777240" y="3657600"/>
            <a:ext cx="4754880" cy="658368"/>
          </a:xfrm>
          <a:prstGeom prst="roundRect">
            <a:avLst>
              <a:gd name="adj" fmla="val 19444"/>
            </a:avLst>
          </a:prstGeom>
          <a:solidFill>
            <a:srgbClr val="3A2318"/>
          </a:solidFill>
          <a:ln/>
          <a:effectLst>
            <a:outerShdw sx="100000" sy="100000" kx="0" ky="0" algn="bl" rotWithShape="0" blurRad="101600" dist="38100" dir="5400000">
              <a:srgbClr val="120a05">
                <a:alpha val="50000"/>
              </a:srgbClr>
            </a:outerShdw>
          </a:effectLst>
        </p:spPr>
      </p:sp>
      <p:pic>
        <p:nvPicPr>
          <p:cNvPr id="15" name="Image 2" descr="/home/user/Wristworkswebsite/presentation/icon_menu_l.png">    </p:cNvPr>
          <p:cNvPicPr>
            <a:picLocks noChangeAspect="1"/>
          </p:cNvPicPr>
          <p:nvPr/>
        </p:nvPicPr>
        <p:blipFill>
          <a:blip r:embed="rId4"/>
          <a:srcRect l="0" r="0" t="0" b="0"/>
          <a:stretch/>
        </p:blipFill>
        <p:spPr>
          <a:xfrm>
            <a:off x="923544" y="3776472"/>
            <a:ext cx="457200" cy="420624"/>
          </a:xfrm>
          <a:prstGeom prst="rect">
            <a:avLst/>
          </a:prstGeom>
        </p:spPr>
      </p:pic>
      <p:sp>
        <p:nvSpPr>
          <p:cNvPr id="16" name="Text 10"/>
          <p:cNvSpPr/>
          <p:nvPr/>
        </p:nvSpPr>
        <p:spPr>
          <a:xfrm>
            <a:off x="1527048" y="3657600"/>
            <a:ext cx="3840480" cy="658368"/>
          </a:xfrm>
          <a:prstGeom prst="rect">
            <a:avLst/>
          </a:prstGeom>
          <a:noFill/>
          <a:ln/>
        </p:spPr>
        <p:txBody>
          <a:bodyPr wrap="square" lIns="0" tIns="0" rIns="0" bIns="0" rtlCol="0" anchor="ctr"/>
          <a:lstStyle/>
          <a:p>
            <a:pPr algn="l" indent="0" marL="0">
              <a:buNone/>
            </a:pPr>
            <a:r>
              <a:rPr lang="en-US" sz="1800" b="1" dirty="0">
                <a:solidFill>
                  <a:srgbClr val="FDF6EC"/>
                </a:solidFill>
                <a:latin typeface="Montserrat" pitchFamily="34" charset="0"/>
                <a:ea typeface="Montserrat" pitchFamily="34" charset="-122"/>
                <a:cs typeface="Montserrat" pitchFamily="34" charset="-120"/>
              </a:rPr>
              <a:t>WHAT WE READ</a:t>
            </a:r>
            <a:endParaRPr lang="en-US" sz="1800" dirty="0"/>
          </a:p>
        </p:txBody>
      </p:sp>
      <p:sp>
        <p:nvSpPr>
          <p:cNvPr id="17" name="Text 11"/>
          <p:cNvSpPr/>
          <p:nvPr/>
        </p:nvSpPr>
        <p:spPr>
          <a:xfrm>
            <a:off x="777240" y="4242816"/>
            <a:ext cx="4754880" cy="320040"/>
          </a:xfrm>
          <a:prstGeom prst="rect">
            <a:avLst/>
          </a:prstGeom>
          <a:noFill/>
          <a:ln/>
        </p:spPr>
        <p:txBody>
          <a:bodyPr wrap="square" lIns="0" tIns="0" rIns="0" bIns="0" rtlCol="0" anchor="ctr"/>
          <a:lstStyle/>
          <a:p>
            <a:pPr algn="ctr" indent="0" marL="0">
              <a:buNone/>
            </a:pPr>
            <a:r>
              <a:rPr lang="en-US" sz="1800" b="1" dirty="0">
                <a:solidFill>
                  <a:srgbClr val="E8722C"/>
                </a:solidFill>
                <a:latin typeface="Montserrat" pitchFamily="34" charset="0"/>
                <a:ea typeface="Montserrat" pitchFamily="34" charset="-122"/>
                <a:cs typeface="Montserrat" pitchFamily="34" charset="-120"/>
              </a:rPr>
              <a:t>↓</a:t>
            </a:r>
            <a:endParaRPr lang="en-US" sz="1800" dirty="0"/>
          </a:p>
        </p:txBody>
      </p:sp>
      <p:sp>
        <p:nvSpPr>
          <p:cNvPr id="18" name="Shape 12"/>
          <p:cNvSpPr/>
          <p:nvPr/>
        </p:nvSpPr>
        <p:spPr>
          <a:xfrm>
            <a:off x="777240" y="4480560"/>
            <a:ext cx="4754880" cy="658368"/>
          </a:xfrm>
          <a:prstGeom prst="roundRect">
            <a:avLst>
              <a:gd name="adj" fmla="val 19444"/>
            </a:avLst>
          </a:prstGeom>
          <a:solidFill>
            <a:srgbClr val="3A2318"/>
          </a:solidFill>
          <a:ln/>
          <a:effectLst>
            <a:outerShdw sx="100000" sy="100000" kx="0" ky="0" algn="bl" rotWithShape="0" blurRad="101600" dist="38100" dir="5400000">
              <a:srgbClr val="120a05">
                <a:alpha val="50000"/>
              </a:srgbClr>
            </a:outerShdw>
          </a:effectLst>
        </p:spPr>
      </p:sp>
      <p:pic>
        <p:nvPicPr>
          <p:cNvPr id="19" name="Image 3" descr="/home/user/Wristworkswebsite/presentation/icon_heart_l.png">    </p:cNvPr>
          <p:cNvPicPr>
            <a:picLocks noChangeAspect="1"/>
          </p:cNvPicPr>
          <p:nvPr/>
        </p:nvPicPr>
        <p:blipFill>
          <a:blip r:embed="rId5"/>
          <a:srcRect l="0" r="0" t="0" b="0"/>
          <a:stretch/>
        </p:blipFill>
        <p:spPr>
          <a:xfrm>
            <a:off x="923544" y="4599432"/>
            <a:ext cx="457200" cy="420624"/>
          </a:xfrm>
          <a:prstGeom prst="rect">
            <a:avLst/>
          </a:prstGeom>
        </p:spPr>
      </p:pic>
      <p:sp>
        <p:nvSpPr>
          <p:cNvPr id="20" name="Text 13"/>
          <p:cNvSpPr/>
          <p:nvPr/>
        </p:nvSpPr>
        <p:spPr>
          <a:xfrm>
            <a:off x="1527048" y="4480560"/>
            <a:ext cx="3840480" cy="658368"/>
          </a:xfrm>
          <a:prstGeom prst="rect">
            <a:avLst/>
          </a:prstGeom>
          <a:noFill/>
          <a:ln/>
        </p:spPr>
        <p:txBody>
          <a:bodyPr wrap="square" lIns="0" tIns="0" rIns="0" bIns="0" rtlCol="0" anchor="ctr"/>
          <a:lstStyle/>
          <a:p>
            <a:pPr algn="l" indent="0" marL="0">
              <a:buNone/>
            </a:pPr>
            <a:r>
              <a:rPr lang="en-US" sz="1800" b="1" dirty="0">
                <a:solidFill>
                  <a:srgbClr val="FDF6EC"/>
                </a:solidFill>
                <a:latin typeface="Montserrat" pitchFamily="34" charset="0"/>
                <a:ea typeface="Montserrat" pitchFamily="34" charset="-122"/>
                <a:cs typeface="Montserrat" pitchFamily="34" charset="-120"/>
              </a:rPr>
              <a:t>WHAT WE REMEMBER</a:t>
            </a:r>
            <a:endParaRPr lang="en-US" sz="1800" dirty="0"/>
          </a:p>
        </p:txBody>
      </p:sp>
      <p:sp>
        <p:nvSpPr>
          <p:cNvPr id="21" name="Text 14"/>
          <p:cNvSpPr/>
          <p:nvPr/>
        </p:nvSpPr>
        <p:spPr>
          <a:xfrm>
            <a:off x="777240" y="5065776"/>
            <a:ext cx="4754880" cy="320040"/>
          </a:xfrm>
          <a:prstGeom prst="rect">
            <a:avLst/>
          </a:prstGeom>
          <a:noFill/>
          <a:ln/>
        </p:spPr>
        <p:txBody>
          <a:bodyPr wrap="square" lIns="0" tIns="0" rIns="0" bIns="0" rtlCol="0" anchor="ctr"/>
          <a:lstStyle/>
          <a:p>
            <a:pPr algn="ctr" indent="0" marL="0">
              <a:buNone/>
            </a:pPr>
            <a:r>
              <a:rPr lang="en-US" sz="1800" b="1" dirty="0">
                <a:solidFill>
                  <a:srgbClr val="E8722C"/>
                </a:solidFill>
                <a:latin typeface="Montserrat" pitchFamily="34" charset="0"/>
                <a:ea typeface="Montserrat" pitchFamily="34" charset="-122"/>
                <a:cs typeface="Montserrat" pitchFamily="34" charset="-120"/>
              </a:rPr>
              <a:t>↓</a:t>
            </a:r>
            <a:endParaRPr lang="en-US" sz="1800" dirty="0"/>
          </a:p>
        </p:txBody>
      </p:sp>
      <p:sp>
        <p:nvSpPr>
          <p:cNvPr id="22" name="Shape 15"/>
          <p:cNvSpPr/>
          <p:nvPr/>
        </p:nvSpPr>
        <p:spPr>
          <a:xfrm>
            <a:off x="777240" y="5303520"/>
            <a:ext cx="4754880" cy="658368"/>
          </a:xfrm>
          <a:prstGeom prst="roundRect">
            <a:avLst>
              <a:gd name="adj" fmla="val 19444"/>
            </a:avLst>
          </a:prstGeom>
          <a:solidFill>
            <a:srgbClr val="E8722C"/>
          </a:solidFill>
          <a:ln/>
          <a:effectLst>
            <a:outerShdw sx="100000" sy="100000" kx="0" ky="0" algn="bl" rotWithShape="0" blurRad="101600" dist="38100" dir="5400000">
              <a:srgbClr val="120a05">
                <a:alpha val="50000"/>
              </a:srgbClr>
            </a:outerShdw>
          </a:effectLst>
        </p:spPr>
      </p:sp>
      <p:pic>
        <p:nvPicPr>
          <p:cNvPr id="23" name="Image 4" descr="/home/user/Wristworkswebsite/presentation/icon_fork.png">    </p:cNvPr>
          <p:cNvPicPr>
            <a:picLocks noChangeAspect="1"/>
          </p:cNvPicPr>
          <p:nvPr/>
        </p:nvPicPr>
        <p:blipFill>
          <a:blip r:embed="rId6"/>
          <a:srcRect l="0" r="0" t="0" b="0"/>
          <a:stretch/>
        </p:blipFill>
        <p:spPr>
          <a:xfrm>
            <a:off x="923544" y="5422392"/>
            <a:ext cx="457200" cy="420624"/>
          </a:xfrm>
          <a:prstGeom prst="rect">
            <a:avLst/>
          </a:prstGeom>
        </p:spPr>
      </p:pic>
      <p:sp>
        <p:nvSpPr>
          <p:cNvPr id="24" name="Text 16"/>
          <p:cNvSpPr/>
          <p:nvPr/>
        </p:nvSpPr>
        <p:spPr>
          <a:xfrm>
            <a:off x="1527048" y="5303520"/>
            <a:ext cx="3840480" cy="658368"/>
          </a:xfrm>
          <a:prstGeom prst="rect">
            <a:avLst/>
          </a:prstGeom>
          <a:noFill/>
          <a:ln/>
        </p:spPr>
        <p:txBody>
          <a:bodyPr wrap="square" lIns="0" tIns="0" rIns="0" bIns="0" rtlCol="0" anchor="ctr"/>
          <a:lstStyle/>
          <a:p>
            <a:pPr algn="l" indent="0" marL="0">
              <a:buNone/>
            </a:pPr>
            <a:r>
              <a:rPr lang="en-US" sz="1800" b="1" dirty="0">
                <a:solidFill>
                  <a:srgbClr val="1C1109"/>
                </a:solidFill>
                <a:latin typeface="Montserrat" pitchFamily="34" charset="0"/>
                <a:ea typeface="Montserrat" pitchFamily="34" charset="-122"/>
                <a:cs typeface="Montserrat" pitchFamily="34" charset="-120"/>
              </a:rPr>
              <a:t>WHAT WE CHOOSE</a:t>
            </a:r>
            <a:endParaRPr lang="en-US" sz="1800" dirty="0"/>
          </a:p>
        </p:txBody>
      </p:sp>
      <p:sp>
        <p:nvSpPr>
          <p:cNvPr id="25" name="Text 17"/>
          <p:cNvSpPr/>
          <p:nvPr/>
        </p:nvSpPr>
        <p:spPr>
          <a:xfrm>
            <a:off x="5852160" y="2240280"/>
            <a:ext cx="5852160" cy="822960"/>
          </a:xfrm>
          <a:prstGeom prst="rect">
            <a:avLst/>
          </a:prstGeom>
          <a:noFill/>
          <a:ln/>
        </p:spPr>
        <p:txBody>
          <a:bodyPr wrap="square" lIns="0" tIns="0" rIns="0" bIns="0" rtlCol="0" anchor="ctr"/>
          <a:lstStyle/>
          <a:p>
            <a:pPr indent="0" marL="0">
              <a:buNone/>
            </a:pPr>
            <a:r>
              <a:rPr lang="en-US" sz="3400" b="1" dirty="0">
                <a:solidFill>
                  <a:srgbClr val="FDF6EC"/>
                </a:solidFill>
                <a:latin typeface="Montserrat" pitchFamily="34" charset="0"/>
                <a:ea typeface="Montserrat" pitchFamily="34" charset="-122"/>
                <a:cs typeface="Montserrat" pitchFamily="34" charset="-120"/>
              </a:rPr>
              <a:t>DO WE CHOOSE FOOD…</a:t>
            </a:r>
            <a:endParaRPr lang="en-US" sz="3400" dirty="0"/>
          </a:p>
        </p:txBody>
      </p:sp>
      <p:sp>
        <p:nvSpPr>
          <p:cNvPr id="26" name="Text 18"/>
          <p:cNvSpPr/>
          <p:nvPr/>
        </p:nvSpPr>
        <p:spPr>
          <a:xfrm>
            <a:off x="5852160" y="3063240"/>
            <a:ext cx="5852160" cy="822960"/>
          </a:xfrm>
          <a:prstGeom prst="rect">
            <a:avLst/>
          </a:prstGeom>
          <a:noFill/>
          <a:ln/>
        </p:spPr>
        <p:txBody>
          <a:bodyPr wrap="square" lIns="0" tIns="0" rIns="0" bIns="0" rtlCol="0" anchor="ctr"/>
          <a:lstStyle/>
          <a:p>
            <a:pPr indent="0" marL="0">
              <a:buNone/>
            </a:pPr>
            <a:r>
              <a:rPr lang="en-US" sz="3400" b="1" i="1" dirty="0">
                <a:solidFill>
                  <a:srgbClr val="E8722C"/>
                </a:solidFill>
                <a:latin typeface="Montserrat" pitchFamily="34" charset="0"/>
                <a:ea typeface="Montserrat" pitchFamily="34" charset="-122"/>
                <a:cs typeface="Montserrat" pitchFamily="34" charset="-120"/>
              </a:rPr>
              <a:t>…or does food choose us?</a:t>
            </a:r>
            <a:endParaRPr lang="en-US" sz="3400" dirty="0"/>
          </a:p>
        </p:txBody>
      </p:sp>
      <p:sp>
        <p:nvSpPr>
          <p:cNvPr id="27" name="Shape 19"/>
          <p:cNvSpPr/>
          <p:nvPr/>
        </p:nvSpPr>
        <p:spPr>
          <a:xfrm>
            <a:off x="5852160" y="4297680"/>
            <a:ext cx="5760720" cy="1417320"/>
          </a:xfrm>
          <a:prstGeom prst="roundRect">
            <a:avLst>
              <a:gd name="adj" fmla="val 11613"/>
            </a:avLst>
          </a:prstGeom>
          <a:solidFill>
            <a:srgbClr val="3A2318"/>
          </a:solidFill>
          <a:ln/>
          <a:effectLst>
            <a:outerShdw sx="100000" sy="100000" kx="0" ky="0" algn="bl" rotWithShape="0" blurRad="177800" dist="63500" dir="5400000">
              <a:srgbClr val="120a05">
                <a:alpha val="50000"/>
              </a:srgbClr>
            </a:outerShdw>
          </a:effectLst>
        </p:spPr>
      </p:sp>
      <p:sp>
        <p:nvSpPr>
          <p:cNvPr id="28" name="Text 20"/>
          <p:cNvSpPr/>
          <p:nvPr/>
        </p:nvSpPr>
        <p:spPr>
          <a:xfrm>
            <a:off x="6126480" y="4480560"/>
            <a:ext cx="5303520" cy="502920"/>
          </a:xfrm>
          <a:prstGeom prst="rect">
            <a:avLst/>
          </a:prstGeom>
          <a:noFill/>
          <a:ln/>
        </p:spPr>
        <p:txBody>
          <a:bodyPr wrap="square" lIns="0" tIns="0" rIns="0" bIns="0" rtlCol="0" anchor="ctr"/>
          <a:lstStyle/>
          <a:p>
            <a:pPr indent="0" marL="0">
              <a:buNone/>
            </a:pPr>
            <a:r>
              <a:rPr lang="en-US" sz="2400" b="1" dirty="0">
                <a:solidFill>
                  <a:srgbClr val="F0A868"/>
                </a:solidFill>
                <a:latin typeface="Montserrat" pitchFamily="34" charset="0"/>
                <a:ea typeface="Montserrat" pitchFamily="34" charset="-122"/>
                <a:cs typeface="Montserrat" pitchFamily="34" charset="-120"/>
              </a:rPr>
              <a:t>Thank you 🙌</a:t>
            </a:r>
            <a:endParaRPr lang="en-US" sz="2400" dirty="0"/>
          </a:p>
        </p:txBody>
      </p:sp>
      <p:sp>
        <p:nvSpPr>
          <p:cNvPr id="29" name="Text 21"/>
          <p:cNvSpPr/>
          <p:nvPr/>
        </p:nvSpPr>
        <p:spPr>
          <a:xfrm>
            <a:off x="6126480" y="5029200"/>
            <a:ext cx="5303520" cy="548640"/>
          </a:xfrm>
          <a:prstGeom prst="rect">
            <a:avLst/>
          </a:prstGeom>
          <a:noFill/>
          <a:ln/>
        </p:spPr>
        <p:txBody>
          <a:bodyPr wrap="square" lIns="0" tIns="0" rIns="0" bIns="0" rtlCol="0" anchor="ctr"/>
          <a:lstStyle/>
          <a:p>
            <a:pPr indent="0" marL="0">
              <a:buNone/>
            </a:pPr>
            <a:r>
              <a:rPr lang="en-US" sz="1900" i="1" dirty="0">
                <a:solidFill>
                  <a:srgbClr val="FDF6EC"/>
                </a:solidFill>
                <a:latin typeface="Calibri" pitchFamily="34" charset="0"/>
                <a:ea typeface="Calibri" pitchFamily="34" charset="-122"/>
                <a:cs typeface="Calibri" pitchFamily="34" charset="-120"/>
              </a:rPr>
              <a:t>…and now — what are you craving? 😄</a:t>
            </a:r>
            <a:endParaRPr lang="en-US" sz="1900" dirty="0"/>
          </a:p>
        </p:txBody>
      </p:sp>
      <p:sp>
        <p:nvSpPr>
          <p:cNvPr id="30" name="Text 22"/>
          <p:cNvSpPr/>
          <p:nvPr/>
        </p:nvSpPr>
        <p:spPr>
          <a:xfrm>
            <a:off x="5852160" y="5989320"/>
            <a:ext cx="5852160" cy="365760"/>
          </a:xfrm>
          <a:prstGeom prst="rect">
            <a:avLst/>
          </a:prstGeom>
          <a:noFill/>
          <a:ln/>
        </p:spPr>
        <p:txBody>
          <a:bodyPr wrap="square" lIns="0" tIns="0" rIns="0" bIns="0" rtlCol="0" anchor="ctr"/>
          <a:lstStyle/>
          <a:p>
            <a:pPr indent="0" marL="0">
              <a:buNone/>
            </a:pPr>
            <a:r>
              <a:rPr lang="en-US" sz="1400" dirty="0">
                <a:solidFill>
                  <a:srgbClr val="C9AE97"/>
                </a:solidFill>
                <a:latin typeface="Calibri" pitchFamily="34" charset="0"/>
                <a:ea typeface="Calibri" pitchFamily="34" charset="-122"/>
                <a:cs typeface="Calibri" pitchFamily="34" charset="-120"/>
              </a:rPr>
              <a:t>Nooha Iflal  ·  The Psychology of Food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2026-08-24T19:46:34Z</dcterms:created>
  <dcterms:modified xsi:type="dcterms:W3CDTF">2026-08-24T19:46:34Z</dcterms:modified>
</cp:coreProperties>
</file>
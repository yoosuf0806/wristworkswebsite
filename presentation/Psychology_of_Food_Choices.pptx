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I'm Nooha Iflal, and today I'm going to talk about something we all do every single day — choose food.
Let's start with a quick question. You have five seconds. Which one would you choose? (Pause — let people raise hands.)
Interesting. But here's the question: Did you choose it because you were hungry, because you actually like it, or because of something else?
Today, we're going to look at the psychology behind our food choices — and why sometimes our brain makes the decision before we even realise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us haven't tasted either one. But we're already making a decision.
Our eyes are often the first thing involved in our food experience. Colour, shape, arrangement and presentation can create expectations about what something will taste like.
Think about scrolling through Instagram or TikTok and suddenly seeing a really good-looking pizza. You might not have been hungry five seconds ago, but suddenly you're thinking about pizza. And somehow, the pizza always appears when you're trying to save money. 😂
See 👀 → Expect 🧠 → Choose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forget the food itself for a moment and look at the words.
If I simply say 'burger', that sounds normal. But if I say 'chef's signature fire-grilled beef burger with caramelised onions and house sauce'… suddenly it sounds much more special.
Restaurants carefully think about how food is described, where items are placed on a menu, and how prices are presented. These things can influence what catches our attention and what we choose.
Did anyone choose the second burger because it sounded better?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 isn't only about hunger. Sometimes food is connected to memories.
Think about one food that immediately reminds you of your childhood, your family, or a special occasion. (Give them a few seconds.)
Maybe it's something your mother or grandmother used to make. Maybe it's a food you always had during celebrations.
That's one reason we don't all choose food in the same way. Our experiences and memories can influence what feels comforting or appealing to us.
Ask one coworker: Would you like to share one food that reminds you of home?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after looking at all of this, we can see that choosing food isn't always as simple as 'I'm hungry, so I'll eat.'
Our choices can be influenced by what we see, how food is presented, the words we read on a menu, and even the memories we have connected to certain foods.
So the next time you choose something from a menu, maybe ask yourself… (pause) Did I choose this because I really wanted it — or did something influence me?
Thank you. Now, after this presentation… what are you craving?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1A17"/>
        </a:solidFill>
      </p:bgPr>
    </p:bg>
    <p:spTree>
      <p:nvGrpSpPr>
        <p:cNvPr id="1" name=""/>
        <p:cNvGrpSpPr/>
        <p:nvPr/>
      </p:nvGrpSpPr>
      <p:grpSpPr>
        <a:xfrm>
          <a:off x="0" y="0"/>
          <a:ext cx="0" cy="0"/>
          <a:chOff x="0" y="0"/>
          <a:chExt cx="0" cy="0"/>
        </a:xfrm>
      </p:grpSpPr>
      <p:sp>
        <p:nvSpPr>
          <p:cNvPr id="2" name="Shape 0"/>
          <p:cNvSpPr/>
          <p:nvPr/>
        </p:nvSpPr>
        <p:spPr>
          <a:xfrm>
            <a:off x="-1463040" y="-1463040"/>
            <a:ext cx="3291840" cy="3291840"/>
          </a:xfrm>
          <a:prstGeom prst="ellipse">
            <a:avLst/>
          </a:prstGeom>
          <a:solidFill>
            <a:srgbClr val="2C2420"/>
          </a:solidFill>
          <a:ln/>
        </p:spPr>
      </p:sp>
      <p:sp>
        <p:nvSpPr>
          <p:cNvPr id="3" name="Shape 1"/>
          <p:cNvSpPr/>
          <p:nvPr/>
        </p:nvSpPr>
        <p:spPr>
          <a:xfrm>
            <a:off x="10424160" y="5120640"/>
            <a:ext cx="3291840" cy="3291840"/>
          </a:xfrm>
          <a:prstGeom prst="ellipse">
            <a:avLst/>
          </a:prstGeom>
          <a:solidFill>
            <a:srgbClr val="2C2420"/>
          </a:solidFill>
          <a:ln/>
        </p:spPr>
      </p:sp>
      <p:sp>
        <p:nvSpPr>
          <p:cNvPr id="4" name="Text 2"/>
          <p:cNvSpPr/>
          <p:nvPr/>
        </p:nvSpPr>
        <p:spPr>
          <a:xfrm>
            <a:off x="640080" y="502920"/>
            <a:ext cx="7315200" cy="320040"/>
          </a:xfrm>
          <a:prstGeom prst="rect">
            <a:avLst/>
          </a:prstGeom>
          <a:noFill/>
          <a:ln/>
        </p:spPr>
        <p:txBody>
          <a:bodyPr wrap="square" rtlCol="0" anchor="ctr"/>
          <a:lstStyle/>
          <a:p>
            <a:pPr algn="l" indent="0" marL="0">
              <a:buNone/>
            </a:pPr>
            <a:r>
              <a:rPr lang="en-US" sz="1300" b="1" spc="300" kern="0" dirty="0">
                <a:solidFill>
                  <a:srgbClr val="F2820C"/>
                </a:solidFill>
                <a:latin typeface="Calibri" pitchFamily="34" charset="0"/>
                <a:ea typeface="Calibri" pitchFamily="34" charset="-122"/>
                <a:cs typeface="Calibri" pitchFamily="34" charset="-120"/>
              </a:rPr>
              <a:t>THE PSYCHOLOGY OF FOOD</a:t>
            </a:r>
            <a:endParaRPr lang="en-US" sz="1300" dirty="0"/>
          </a:p>
        </p:txBody>
      </p:sp>
      <p:sp>
        <p:nvSpPr>
          <p:cNvPr id="5" name="Text 3"/>
          <p:cNvSpPr/>
          <p:nvPr/>
        </p:nvSpPr>
        <p:spPr>
          <a:xfrm>
            <a:off x="548640" y="868680"/>
            <a:ext cx="11064240" cy="1005840"/>
          </a:xfrm>
          <a:prstGeom prst="rect">
            <a:avLst/>
          </a:prstGeom>
          <a:noFill/>
          <a:ln/>
        </p:spPr>
        <p:txBody>
          <a:bodyPr wrap="square" rtlCol="0" anchor="ctr"/>
          <a:lstStyle/>
          <a:p>
            <a:pPr algn="ctr" indent="0" marL="0">
              <a:buNone/>
            </a:pPr>
            <a:r>
              <a:rPr lang="en-US" sz="5400" b="1" dirty="0">
                <a:solidFill>
                  <a:srgbClr val="F7F0E7"/>
                </a:solidFill>
                <a:latin typeface="Calibri" pitchFamily="34" charset="0"/>
                <a:ea typeface="Calibri" pitchFamily="34" charset="-122"/>
                <a:cs typeface="Calibri" pitchFamily="34" charset="-120"/>
              </a:rPr>
              <a:t>What Would You </a:t>
            </a:r>
            <a:pPr algn="ctr" indent="0" marL="0">
              <a:buNone/>
            </a:pPr>
            <a:r>
              <a:rPr lang="en-US" sz="5400" b="1" dirty="0">
                <a:solidFill>
                  <a:srgbClr val="F2820C"/>
                </a:solidFill>
                <a:latin typeface="Calibri" pitchFamily="34" charset="0"/>
                <a:ea typeface="Calibri" pitchFamily="34" charset="-122"/>
                <a:cs typeface="Calibri" pitchFamily="34" charset="-120"/>
              </a:rPr>
              <a:t>Choose?</a:t>
            </a:r>
            <a:endParaRPr lang="en-US" sz="5400" dirty="0"/>
          </a:p>
        </p:txBody>
      </p:sp>
      <p:pic>
        <p:nvPicPr>
          <p:cNvPr id="6" name="Image 0" descr="img/burgerDeluxe.png">    </p:cNvPr>
          <p:cNvPicPr>
            <a:picLocks noChangeAspect="1"/>
          </p:cNvPicPr>
          <p:nvPr/>
        </p:nvPicPr>
        <p:blipFill>
          <a:blip r:embed="rId1"/>
          <a:stretch>
            <a:fillRect/>
          </a:stretch>
        </p:blipFill>
        <p:spPr>
          <a:xfrm>
            <a:off x="777240" y="2331720"/>
            <a:ext cx="2331720" cy="2331720"/>
          </a:xfrm>
          <a:prstGeom prst="rect">
            <a:avLst/>
          </a:prstGeom>
          <a:effectLst>
            <a:outerShdw sx="100000" sy="100000" kx="0" ky="0" algn="bl" rotWithShape="0" blurRad="152400" dist="63500" dir="5400000">
              <a:srgbClr val="000000">
                <a:alpha val="45000"/>
              </a:srgbClr>
            </a:outerShdw>
          </a:effectLst>
        </p:spPr>
      </p:pic>
      <p:sp>
        <p:nvSpPr>
          <p:cNvPr id="7" name="Text 4"/>
          <p:cNvSpPr/>
          <p:nvPr/>
        </p:nvSpPr>
        <p:spPr>
          <a:xfrm>
            <a:off x="502920" y="4617720"/>
            <a:ext cx="2880360" cy="320040"/>
          </a:xfrm>
          <a:prstGeom prst="rect">
            <a:avLst/>
          </a:prstGeom>
          <a:noFill/>
          <a:ln/>
        </p:spPr>
        <p:txBody>
          <a:bodyPr wrap="square" rtlCol="0" anchor="ctr"/>
          <a:lstStyle/>
          <a:p>
            <a:pPr algn="ctr" indent="0" marL="0">
              <a:buNone/>
            </a:pPr>
            <a:r>
              <a:rPr lang="en-US" sz="1400" b="1" spc="200" kern="0" dirty="0">
                <a:solidFill>
                  <a:srgbClr val="F7F0E7"/>
                </a:solidFill>
                <a:latin typeface="Calibri" pitchFamily="34" charset="0"/>
                <a:ea typeface="Calibri" pitchFamily="34" charset="-122"/>
                <a:cs typeface="Calibri" pitchFamily="34" charset="-120"/>
              </a:rPr>
              <a:t>BURGER</a:t>
            </a:r>
            <a:endParaRPr lang="en-US" sz="1400" dirty="0"/>
          </a:p>
        </p:txBody>
      </p:sp>
      <p:pic>
        <p:nvPicPr>
          <p:cNvPr id="8" name="Image 1" descr="img/pizza.png">    </p:cNvPr>
          <p:cNvPicPr>
            <a:picLocks noChangeAspect="1"/>
          </p:cNvPicPr>
          <p:nvPr/>
        </p:nvPicPr>
        <p:blipFill>
          <a:blip r:embed="rId2"/>
          <a:stretch>
            <a:fillRect/>
          </a:stretch>
        </p:blipFill>
        <p:spPr>
          <a:xfrm>
            <a:off x="3657600" y="2331720"/>
            <a:ext cx="2331720" cy="2331720"/>
          </a:xfrm>
          <a:prstGeom prst="rect">
            <a:avLst/>
          </a:prstGeom>
          <a:effectLst>
            <a:outerShdw sx="100000" sy="100000" kx="0" ky="0" algn="bl" rotWithShape="0" blurRad="152400" dist="63500" dir="5400000">
              <a:srgbClr val="000000">
                <a:alpha val="45000"/>
              </a:srgbClr>
            </a:outerShdw>
          </a:effectLst>
        </p:spPr>
      </p:pic>
      <p:sp>
        <p:nvSpPr>
          <p:cNvPr id="9" name="Text 5"/>
          <p:cNvSpPr/>
          <p:nvPr/>
        </p:nvSpPr>
        <p:spPr>
          <a:xfrm>
            <a:off x="3383280" y="4617720"/>
            <a:ext cx="2880360" cy="320040"/>
          </a:xfrm>
          <a:prstGeom prst="rect">
            <a:avLst/>
          </a:prstGeom>
          <a:noFill/>
          <a:ln/>
        </p:spPr>
        <p:txBody>
          <a:bodyPr wrap="square" rtlCol="0" anchor="ctr"/>
          <a:lstStyle/>
          <a:p>
            <a:pPr algn="ctr" indent="0" marL="0">
              <a:buNone/>
            </a:pPr>
            <a:r>
              <a:rPr lang="en-US" sz="1400" b="1" spc="200" kern="0" dirty="0">
                <a:solidFill>
                  <a:srgbClr val="F7F0E7"/>
                </a:solidFill>
                <a:latin typeface="Calibri" pitchFamily="34" charset="0"/>
                <a:ea typeface="Calibri" pitchFamily="34" charset="-122"/>
                <a:cs typeface="Calibri" pitchFamily="34" charset="-120"/>
              </a:rPr>
              <a:t>PIZZA</a:t>
            </a:r>
            <a:endParaRPr lang="en-US" sz="1400" dirty="0"/>
          </a:p>
        </p:txBody>
      </p:sp>
      <p:pic>
        <p:nvPicPr>
          <p:cNvPr id="10" name="Image 2" descr="img/salad.png">    </p:cNvPr>
          <p:cNvPicPr>
            <a:picLocks noChangeAspect="1"/>
          </p:cNvPicPr>
          <p:nvPr/>
        </p:nvPicPr>
        <p:blipFill>
          <a:blip r:embed="rId3"/>
          <a:stretch>
            <a:fillRect/>
          </a:stretch>
        </p:blipFill>
        <p:spPr>
          <a:xfrm>
            <a:off x="6537960" y="2331720"/>
            <a:ext cx="2331720" cy="2331720"/>
          </a:xfrm>
          <a:prstGeom prst="rect">
            <a:avLst/>
          </a:prstGeom>
          <a:effectLst>
            <a:outerShdw sx="100000" sy="100000" kx="0" ky="0" algn="bl" rotWithShape="0" blurRad="152400" dist="63500" dir="5400000">
              <a:srgbClr val="000000">
                <a:alpha val="45000"/>
              </a:srgbClr>
            </a:outerShdw>
          </a:effectLst>
        </p:spPr>
      </p:pic>
      <p:sp>
        <p:nvSpPr>
          <p:cNvPr id="11" name="Text 6"/>
          <p:cNvSpPr/>
          <p:nvPr/>
        </p:nvSpPr>
        <p:spPr>
          <a:xfrm>
            <a:off x="6263640" y="4617720"/>
            <a:ext cx="2880360" cy="320040"/>
          </a:xfrm>
          <a:prstGeom prst="rect">
            <a:avLst/>
          </a:prstGeom>
          <a:noFill/>
          <a:ln/>
        </p:spPr>
        <p:txBody>
          <a:bodyPr wrap="square" rtlCol="0" anchor="ctr"/>
          <a:lstStyle/>
          <a:p>
            <a:pPr algn="ctr" indent="0" marL="0">
              <a:buNone/>
            </a:pPr>
            <a:r>
              <a:rPr lang="en-US" sz="1400" b="1" spc="200" kern="0" dirty="0">
                <a:solidFill>
                  <a:srgbClr val="F7F0E7"/>
                </a:solidFill>
                <a:latin typeface="Calibri" pitchFamily="34" charset="0"/>
                <a:ea typeface="Calibri" pitchFamily="34" charset="-122"/>
                <a:cs typeface="Calibri" pitchFamily="34" charset="-120"/>
              </a:rPr>
              <a:t>SALAD</a:t>
            </a:r>
            <a:endParaRPr lang="en-US" sz="1400" dirty="0"/>
          </a:p>
        </p:txBody>
      </p:sp>
      <p:pic>
        <p:nvPicPr>
          <p:cNvPr id="12" name="Image 3" descr="img/cakeSlice.png">    </p:cNvPr>
          <p:cNvPicPr>
            <a:picLocks noChangeAspect="1"/>
          </p:cNvPicPr>
          <p:nvPr/>
        </p:nvPicPr>
        <p:blipFill>
          <a:blip r:embed="rId4"/>
          <a:stretch>
            <a:fillRect/>
          </a:stretch>
        </p:blipFill>
        <p:spPr>
          <a:xfrm>
            <a:off x="9418320" y="2331720"/>
            <a:ext cx="2331720" cy="2331720"/>
          </a:xfrm>
          <a:prstGeom prst="rect">
            <a:avLst/>
          </a:prstGeom>
          <a:effectLst>
            <a:outerShdw sx="100000" sy="100000" kx="0" ky="0" algn="bl" rotWithShape="0" blurRad="152400" dist="63500" dir="5400000">
              <a:srgbClr val="000000">
                <a:alpha val="45000"/>
              </a:srgbClr>
            </a:outerShdw>
          </a:effectLst>
        </p:spPr>
      </p:pic>
      <p:sp>
        <p:nvSpPr>
          <p:cNvPr id="13" name="Text 7"/>
          <p:cNvSpPr/>
          <p:nvPr/>
        </p:nvSpPr>
        <p:spPr>
          <a:xfrm>
            <a:off x="9144000" y="4617720"/>
            <a:ext cx="2880360" cy="320040"/>
          </a:xfrm>
          <a:prstGeom prst="rect">
            <a:avLst/>
          </a:prstGeom>
          <a:noFill/>
          <a:ln/>
        </p:spPr>
        <p:txBody>
          <a:bodyPr wrap="square" rtlCol="0" anchor="ctr"/>
          <a:lstStyle/>
          <a:p>
            <a:pPr algn="ctr" indent="0" marL="0">
              <a:buNone/>
            </a:pPr>
            <a:r>
              <a:rPr lang="en-US" sz="1400" b="1" spc="200" kern="0" dirty="0">
                <a:solidFill>
                  <a:srgbClr val="F7F0E7"/>
                </a:solidFill>
                <a:latin typeface="Calibri" pitchFamily="34" charset="0"/>
                <a:ea typeface="Calibri" pitchFamily="34" charset="-122"/>
                <a:cs typeface="Calibri" pitchFamily="34" charset="-120"/>
              </a:rPr>
              <a:t>CAKE</a:t>
            </a:r>
            <a:endParaRPr lang="en-US" sz="1400" dirty="0"/>
          </a:p>
        </p:txBody>
      </p:sp>
      <p:sp>
        <p:nvSpPr>
          <p:cNvPr id="14" name="Shape 8"/>
          <p:cNvSpPr/>
          <p:nvPr/>
        </p:nvSpPr>
        <p:spPr>
          <a:xfrm>
            <a:off x="3346704" y="5394960"/>
            <a:ext cx="5486400" cy="640080"/>
          </a:xfrm>
          <a:prstGeom prst="roundRect">
            <a:avLst>
              <a:gd name="adj" fmla="val 50000"/>
            </a:avLst>
          </a:prstGeom>
          <a:solidFill>
            <a:srgbClr val="F2820C"/>
          </a:solidFill>
          <a:ln/>
        </p:spPr>
      </p:sp>
      <p:sp>
        <p:nvSpPr>
          <p:cNvPr id="15" name="Text 9"/>
          <p:cNvSpPr/>
          <p:nvPr/>
        </p:nvSpPr>
        <p:spPr>
          <a:xfrm>
            <a:off x="3346704" y="5394960"/>
            <a:ext cx="5486400" cy="640080"/>
          </a:xfrm>
          <a:prstGeom prst="rect">
            <a:avLst/>
          </a:prstGeom>
          <a:noFill/>
          <a:ln/>
        </p:spPr>
        <p:txBody>
          <a:bodyPr wrap="square" rtlCol="0" anchor="ctr"/>
          <a:lstStyle/>
          <a:p>
            <a:pPr algn="ctr" indent="0" marL="0">
              <a:buNone/>
            </a:pPr>
            <a:r>
              <a:rPr lang="en-US" sz="2000" b="1" dirty="0">
                <a:solidFill>
                  <a:srgbClr val="201A17"/>
                </a:solidFill>
                <a:latin typeface="Calibri" pitchFamily="34" charset="0"/>
                <a:ea typeface="Calibri" pitchFamily="34" charset="-122"/>
                <a:cs typeface="Calibri" pitchFamily="34" charset="-120"/>
              </a:rPr>
              <a:t>You have 5 seconds.  Choose one.</a:t>
            </a:r>
            <a:endParaRPr lang="en-US" sz="2000" dirty="0"/>
          </a:p>
        </p:txBody>
      </p:sp>
      <p:sp>
        <p:nvSpPr>
          <p:cNvPr id="16" name="Text 10"/>
          <p:cNvSpPr/>
          <p:nvPr/>
        </p:nvSpPr>
        <p:spPr>
          <a:xfrm>
            <a:off x="640080" y="6263640"/>
            <a:ext cx="10972800" cy="365760"/>
          </a:xfrm>
          <a:prstGeom prst="rect">
            <a:avLst/>
          </a:prstGeom>
          <a:noFill/>
          <a:ln/>
        </p:spPr>
        <p:txBody>
          <a:bodyPr wrap="square" rtlCol="0" anchor="ctr"/>
          <a:lstStyle/>
          <a:p>
            <a:pPr algn="ctr" indent="0" marL="0">
              <a:buNone/>
            </a:pPr>
            <a:r>
              <a:rPr lang="en-US" sz="1400" dirty="0">
                <a:solidFill>
                  <a:srgbClr val="8B7C6E"/>
                </a:solidFill>
                <a:latin typeface="Calibri" pitchFamily="34" charset="0"/>
                <a:ea typeface="Calibri" pitchFamily="34" charset="-122"/>
                <a:cs typeface="Calibri" pitchFamily="34" charset="-120"/>
              </a:rPr>
              <a:t>Presented by  </a:t>
            </a:r>
            <a:pPr algn="ctr" indent="0" marL="0">
              <a:buNone/>
            </a:pPr>
            <a:r>
              <a:rPr lang="en-US" sz="1400" b="1" dirty="0">
                <a:solidFill>
                  <a:srgbClr val="F7F0E7"/>
                </a:solidFill>
                <a:latin typeface="Calibri" pitchFamily="34" charset="0"/>
                <a:ea typeface="Calibri" pitchFamily="34" charset="-122"/>
                <a:cs typeface="Calibri" pitchFamily="34" charset="-120"/>
              </a:rPr>
              <a:t>Nooha Iflal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0E7"/>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algn="l" indent="0" marL="0">
              <a:buNone/>
            </a:pPr>
            <a:r>
              <a:rPr lang="en-US" sz="1300" b="1" spc="300" kern="0" dirty="0">
                <a:solidFill>
                  <a:srgbClr val="F2820C"/>
                </a:solidFill>
                <a:latin typeface="Calibri" pitchFamily="34" charset="0"/>
                <a:ea typeface="Calibri" pitchFamily="34" charset="-122"/>
                <a:cs typeface="Calibri" pitchFamily="34" charset="-120"/>
              </a:rPr>
              <a:t>01 · VISUAL PSYCHOLOGY</a:t>
            </a:r>
            <a:endParaRPr lang="en-US" sz="1300" dirty="0"/>
          </a:p>
        </p:txBody>
      </p:sp>
      <p:sp>
        <p:nvSpPr>
          <p:cNvPr id="3" name="Text 1"/>
          <p:cNvSpPr/>
          <p:nvPr/>
        </p:nvSpPr>
        <p:spPr>
          <a:xfrm>
            <a:off x="594360" y="822960"/>
            <a:ext cx="10972800" cy="822960"/>
          </a:xfrm>
          <a:prstGeom prst="rect">
            <a:avLst/>
          </a:prstGeom>
          <a:noFill/>
          <a:ln/>
        </p:spPr>
        <p:txBody>
          <a:bodyPr wrap="square" rtlCol="0" anchor="ctr"/>
          <a:lstStyle/>
          <a:p>
            <a:pPr algn="l" indent="0" marL="0">
              <a:buNone/>
            </a:pPr>
            <a:r>
              <a:rPr lang="en-US" sz="4000" b="1" dirty="0">
                <a:solidFill>
                  <a:srgbClr val="2C2420"/>
                </a:solidFill>
                <a:latin typeface="Calibri" pitchFamily="34" charset="0"/>
                <a:ea typeface="Calibri" pitchFamily="34" charset="-122"/>
                <a:cs typeface="Calibri" pitchFamily="34" charset="-120"/>
              </a:rPr>
              <a:t>Your Eyes </a:t>
            </a:r>
            <a:pPr algn="l" indent="0" marL="0">
              <a:buNone/>
            </a:pPr>
            <a:r>
              <a:rPr lang="en-US" sz="4000" b="1" dirty="0">
                <a:solidFill>
                  <a:srgbClr val="F2820C"/>
                </a:solidFill>
                <a:latin typeface="Calibri" pitchFamily="34" charset="0"/>
                <a:ea typeface="Calibri" pitchFamily="34" charset="-122"/>
                <a:cs typeface="Calibri" pitchFamily="34" charset="-120"/>
              </a:rPr>
              <a:t>Choose First</a:t>
            </a:r>
            <a:endParaRPr lang="en-US" sz="4000" dirty="0"/>
          </a:p>
        </p:txBody>
      </p:sp>
      <p:sp>
        <p:nvSpPr>
          <p:cNvPr id="4" name="Shape 2"/>
          <p:cNvSpPr/>
          <p:nvPr/>
        </p:nvSpPr>
        <p:spPr>
          <a:xfrm>
            <a:off x="640080" y="1965960"/>
            <a:ext cx="5257800" cy="3246120"/>
          </a:xfrm>
          <a:prstGeom prst="roundRect">
            <a:avLst>
              <a:gd name="adj" fmla="val 5070"/>
            </a:avLst>
          </a:prstGeom>
          <a:solidFill>
            <a:srgbClr val="FFFFFF"/>
          </a:solidFill>
          <a:ln w="12700">
            <a:solidFill>
              <a:srgbClr val="E6DBCB"/>
            </a:solidFill>
            <a:prstDash val="solid"/>
          </a:ln>
          <a:effectLst>
            <a:outerShdw sx="100000" sy="100000" kx="0" ky="0" algn="bl" rotWithShape="0" blurRad="127000" dist="50800" dir="5400000">
              <a:srgbClr val="9A8B79">
                <a:alpha val="35000"/>
              </a:srgbClr>
            </a:outerShdw>
          </a:effectLst>
        </p:spPr>
      </p:sp>
      <p:sp>
        <p:nvSpPr>
          <p:cNvPr id="5" name="Shape 3"/>
          <p:cNvSpPr/>
          <p:nvPr/>
        </p:nvSpPr>
        <p:spPr>
          <a:xfrm>
            <a:off x="868680" y="2194560"/>
            <a:ext cx="640080" cy="640080"/>
          </a:xfrm>
          <a:prstGeom prst="ellipse">
            <a:avLst/>
          </a:prstGeom>
          <a:solidFill>
            <a:srgbClr val="8B7C6E"/>
          </a:solidFill>
          <a:ln/>
        </p:spPr>
      </p:sp>
      <p:sp>
        <p:nvSpPr>
          <p:cNvPr id="6" name="Text 4"/>
          <p:cNvSpPr/>
          <p:nvPr/>
        </p:nvSpPr>
        <p:spPr>
          <a:xfrm>
            <a:off x="868680" y="2194560"/>
            <a:ext cx="640080" cy="64008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a:t>
            </a:r>
            <a:endParaRPr lang="en-US" sz="2600" dirty="0"/>
          </a:p>
        </p:txBody>
      </p:sp>
      <p:pic>
        <p:nvPicPr>
          <p:cNvPr id="7" name="Image 0" descr="img/burgerPlain.png">    </p:cNvPr>
          <p:cNvPicPr>
            <a:picLocks noChangeAspect="1"/>
          </p:cNvPicPr>
          <p:nvPr/>
        </p:nvPicPr>
        <p:blipFill>
          <a:blip r:embed="rId1"/>
          <a:stretch>
            <a:fillRect/>
          </a:stretch>
        </p:blipFill>
        <p:spPr>
          <a:xfrm>
            <a:off x="1851660" y="2286000"/>
            <a:ext cx="2834640" cy="2834640"/>
          </a:xfrm>
          <a:prstGeom prst="rect">
            <a:avLst/>
          </a:prstGeom>
        </p:spPr>
      </p:pic>
      <p:sp>
        <p:nvSpPr>
          <p:cNvPr id="8" name="Text 5"/>
          <p:cNvSpPr/>
          <p:nvPr/>
        </p:nvSpPr>
        <p:spPr>
          <a:xfrm>
            <a:off x="822960" y="4553712"/>
            <a:ext cx="4892040" cy="502920"/>
          </a:xfrm>
          <a:prstGeom prst="rect">
            <a:avLst/>
          </a:prstGeom>
          <a:noFill/>
          <a:ln/>
        </p:spPr>
        <p:txBody>
          <a:bodyPr wrap="square" rtlCol="0" anchor="ctr"/>
          <a:lstStyle/>
          <a:p>
            <a:pPr algn="ctr" indent="0" marL="0">
              <a:buNone/>
            </a:pPr>
            <a:r>
              <a:rPr lang="en-US" sz="1500" i="1" dirty="0">
                <a:solidFill>
                  <a:srgbClr val="6B5D4F"/>
                </a:solidFill>
                <a:latin typeface="Calibri" pitchFamily="34" charset="0"/>
                <a:ea typeface="Calibri" pitchFamily="34" charset="-122"/>
                <a:cs typeface="Calibri" pitchFamily="34" charset="-120"/>
              </a:rPr>
              <a:t>Same burger. A quick, plain snapshot.</a:t>
            </a:r>
            <a:endParaRPr lang="en-US" sz="1500" dirty="0"/>
          </a:p>
        </p:txBody>
      </p:sp>
      <p:sp>
        <p:nvSpPr>
          <p:cNvPr id="9" name="Shape 6"/>
          <p:cNvSpPr/>
          <p:nvPr/>
        </p:nvSpPr>
        <p:spPr>
          <a:xfrm>
            <a:off x="6291072" y="1965960"/>
            <a:ext cx="5257800" cy="3246120"/>
          </a:xfrm>
          <a:prstGeom prst="roundRect">
            <a:avLst>
              <a:gd name="adj" fmla="val 5070"/>
            </a:avLst>
          </a:prstGeom>
          <a:solidFill>
            <a:srgbClr val="FFFFFF"/>
          </a:solidFill>
          <a:ln w="12700">
            <a:solidFill>
              <a:srgbClr val="E6DBCB"/>
            </a:solidFill>
            <a:prstDash val="solid"/>
          </a:ln>
          <a:effectLst>
            <a:outerShdw sx="100000" sy="100000" kx="0" ky="0" algn="bl" rotWithShape="0" blurRad="127000" dist="50800" dir="5400000">
              <a:srgbClr val="9A8B79">
                <a:alpha val="35000"/>
              </a:srgbClr>
            </a:outerShdw>
          </a:effectLst>
        </p:spPr>
      </p:sp>
      <p:sp>
        <p:nvSpPr>
          <p:cNvPr id="10" name="Shape 7"/>
          <p:cNvSpPr/>
          <p:nvPr/>
        </p:nvSpPr>
        <p:spPr>
          <a:xfrm>
            <a:off x="6519672" y="2194560"/>
            <a:ext cx="640080" cy="640080"/>
          </a:xfrm>
          <a:prstGeom prst="ellipse">
            <a:avLst/>
          </a:prstGeom>
          <a:solidFill>
            <a:srgbClr val="F2820C"/>
          </a:solidFill>
          <a:ln/>
        </p:spPr>
      </p:sp>
      <p:sp>
        <p:nvSpPr>
          <p:cNvPr id="11" name="Text 8"/>
          <p:cNvSpPr/>
          <p:nvPr/>
        </p:nvSpPr>
        <p:spPr>
          <a:xfrm>
            <a:off x="6519672" y="2194560"/>
            <a:ext cx="640080" cy="64008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B</a:t>
            </a:r>
            <a:endParaRPr lang="en-US" sz="2600" dirty="0"/>
          </a:p>
        </p:txBody>
      </p:sp>
      <p:pic>
        <p:nvPicPr>
          <p:cNvPr id="12" name="Image 1" descr="img/burgerDeluxe.png">    </p:cNvPr>
          <p:cNvPicPr>
            <a:picLocks noChangeAspect="1"/>
          </p:cNvPicPr>
          <p:nvPr/>
        </p:nvPicPr>
        <p:blipFill>
          <a:blip r:embed="rId2"/>
          <a:stretch>
            <a:fillRect/>
          </a:stretch>
        </p:blipFill>
        <p:spPr>
          <a:xfrm>
            <a:off x="7502652" y="2286000"/>
            <a:ext cx="2834640" cy="2834640"/>
          </a:xfrm>
          <a:prstGeom prst="rect">
            <a:avLst/>
          </a:prstGeom>
        </p:spPr>
      </p:pic>
      <p:sp>
        <p:nvSpPr>
          <p:cNvPr id="13" name="Text 9"/>
          <p:cNvSpPr/>
          <p:nvPr/>
        </p:nvSpPr>
        <p:spPr>
          <a:xfrm>
            <a:off x="6473952" y="4553712"/>
            <a:ext cx="4892040" cy="502920"/>
          </a:xfrm>
          <a:prstGeom prst="rect">
            <a:avLst/>
          </a:prstGeom>
          <a:noFill/>
          <a:ln/>
        </p:spPr>
        <p:txBody>
          <a:bodyPr wrap="square" rtlCol="0" anchor="ctr"/>
          <a:lstStyle/>
          <a:p>
            <a:pPr algn="ctr" indent="0" marL="0">
              <a:buNone/>
            </a:pPr>
            <a:r>
              <a:rPr lang="en-US" sz="1500" i="1" dirty="0">
                <a:solidFill>
                  <a:srgbClr val="6B5D4F"/>
                </a:solidFill>
                <a:latin typeface="Calibri" pitchFamily="34" charset="0"/>
                <a:ea typeface="Calibri" pitchFamily="34" charset="-122"/>
                <a:cs typeface="Calibri" pitchFamily="34" charset="-120"/>
              </a:rPr>
              <a:t>Same burger. Styled, stacked, lit.</a:t>
            </a:r>
            <a:endParaRPr lang="en-US" sz="1500" dirty="0"/>
          </a:p>
        </p:txBody>
      </p:sp>
      <p:sp>
        <p:nvSpPr>
          <p:cNvPr id="14" name="Text 10"/>
          <p:cNvSpPr/>
          <p:nvPr/>
        </p:nvSpPr>
        <p:spPr>
          <a:xfrm>
            <a:off x="640080" y="5394960"/>
            <a:ext cx="10972800" cy="457200"/>
          </a:xfrm>
          <a:prstGeom prst="rect">
            <a:avLst/>
          </a:prstGeom>
          <a:noFill/>
          <a:ln/>
        </p:spPr>
        <p:txBody>
          <a:bodyPr wrap="square" rtlCol="0" anchor="ctr"/>
          <a:lstStyle/>
          <a:p>
            <a:pPr algn="ctr" indent="0" marL="0">
              <a:buNone/>
            </a:pPr>
            <a:r>
              <a:rPr lang="en-US" sz="2400" b="1" dirty="0">
                <a:solidFill>
                  <a:srgbClr val="2C2420"/>
                </a:solidFill>
                <a:latin typeface="Calibri" pitchFamily="34" charset="0"/>
                <a:ea typeface="Calibri" pitchFamily="34" charset="-122"/>
                <a:cs typeface="Calibri" pitchFamily="34" charset="-120"/>
              </a:rPr>
              <a:t>Which one looks tastier?</a:t>
            </a:r>
            <a:endParaRPr lang="en-US" sz="2400" dirty="0"/>
          </a:p>
        </p:txBody>
      </p:sp>
      <p:sp>
        <p:nvSpPr>
          <p:cNvPr id="15" name="Shape 11"/>
          <p:cNvSpPr/>
          <p:nvPr/>
        </p:nvSpPr>
        <p:spPr>
          <a:xfrm>
            <a:off x="2926080" y="5989320"/>
            <a:ext cx="1691640" cy="548640"/>
          </a:xfrm>
          <a:prstGeom prst="roundRect">
            <a:avLst>
              <a:gd name="adj" fmla="val 50000"/>
            </a:avLst>
          </a:prstGeom>
          <a:solidFill>
            <a:srgbClr val="8CC152"/>
          </a:solidFill>
          <a:ln/>
        </p:spPr>
      </p:sp>
      <p:sp>
        <p:nvSpPr>
          <p:cNvPr id="16" name="Text 12"/>
          <p:cNvSpPr/>
          <p:nvPr/>
        </p:nvSpPr>
        <p:spPr>
          <a:xfrm>
            <a:off x="2926080" y="5989320"/>
            <a:ext cx="1691640" cy="548640"/>
          </a:xfrm>
          <a:prstGeom prst="rect">
            <a:avLst/>
          </a:prstGeom>
          <a:noFill/>
          <a:ln/>
        </p:spPr>
        <p:txBody>
          <a:bodyPr wrap="square"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SEE</a:t>
            </a:r>
            <a:endParaRPr lang="en-US" sz="1500" dirty="0"/>
          </a:p>
        </p:txBody>
      </p:sp>
      <p:sp>
        <p:nvSpPr>
          <p:cNvPr id="17" name="Text 13"/>
          <p:cNvSpPr/>
          <p:nvPr/>
        </p:nvSpPr>
        <p:spPr>
          <a:xfrm>
            <a:off x="4617720" y="5989320"/>
            <a:ext cx="502920" cy="548640"/>
          </a:xfrm>
          <a:prstGeom prst="rect">
            <a:avLst/>
          </a:prstGeom>
          <a:noFill/>
          <a:ln/>
        </p:spPr>
        <p:txBody>
          <a:bodyPr wrap="square" rtlCol="0" anchor="ctr"/>
          <a:lstStyle/>
          <a:p>
            <a:pPr algn="ctr" indent="0" marL="0">
              <a:buNone/>
            </a:pPr>
            <a:r>
              <a:rPr lang="en-US" sz="2200" b="1" dirty="0">
                <a:solidFill>
                  <a:srgbClr val="2C2420"/>
                </a:solidFill>
                <a:latin typeface="Calibri" pitchFamily="34" charset="0"/>
                <a:ea typeface="Calibri" pitchFamily="34" charset="-122"/>
                <a:cs typeface="Calibri" pitchFamily="34" charset="-120"/>
              </a:rPr>
              <a:t>→</a:t>
            </a:r>
            <a:endParaRPr lang="en-US" sz="2200" dirty="0"/>
          </a:p>
        </p:txBody>
      </p:sp>
      <p:sp>
        <p:nvSpPr>
          <p:cNvPr id="18" name="Shape 14"/>
          <p:cNvSpPr/>
          <p:nvPr/>
        </p:nvSpPr>
        <p:spPr>
          <a:xfrm>
            <a:off x="5120640" y="5989320"/>
            <a:ext cx="1691640" cy="548640"/>
          </a:xfrm>
          <a:prstGeom prst="roundRect">
            <a:avLst>
              <a:gd name="adj" fmla="val 50000"/>
            </a:avLst>
          </a:prstGeom>
          <a:solidFill>
            <a:srgbClr val="F2820C"/>
          </a:solidFill>
          <a:ln/>
        </p:spPr>
      </p:sp>
      <p:sp>
        <p:nvSpPr>
          <p:cNvPr id="19" name="Text 15"/>
          <p:cNvSpPr/>
          <p:nvPr/>
        </p:nvSpPr>
        <p:spPr>
          <a:xfrm>
            <a:off x="5120640" y="5989320"/>
            <a:ext cx="1691640" cy="548640"/>
          </a:xfrm>
          <a:prstGeom prst="rect">
            <a:avLst/>
          </a:prstGeom>
          <a:noFill/>
          <a:ln/>
        </p:spPr>
        <p:txBody>
          <a:bodyPr wrap="square"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EXPECT</a:t>
            </a:r>
            <a:endParaRPr lang="en-US" sz="1500" dirty="0"/>
          </a:p>
        </p:txBody>
      </p:sp>
      <p:sp>
        <p:nvSpPr>
          <p:cNvPr id="20" name="Text 16"/>
          <p:cNvSpPr/>
          <p:nvPr/>
        </p:nvSpPr>
        <p:spPr>
          <a:xfrm>
            <a:off x="6812280" y="5989320"/>
            <a:ext cx="502920" cy="548640"/>
          </a:xfrm>
          <a:prstGeom prst="rect">
            <a:avLst/>
          </a:prstGeom>
          <a:noFill/>
          <a:ln/>
        </p:spPr>
        <p:txBody>
          <a:bodyPr wrap="square" rtlCol="0" anchor="ctr"/>
          <a:lstStyle/>
          <a:p>
            <a:pPr algn="ctr" indent="0" marL="0">
              <a:buNone/>
            </a:pPr>
            <a:r>
              <a:rPr lang="en-US" sz="2200" b="1" dirty="0">
                <a:solidFill>
                  <a:srgbClr val="2C2420"/>
                </a:solidFill>
                <a:latin typeface="Calibri" pitchFamily="34" charset="0"/>
                <a:ea typeface="Calibri" pitchFamily="34" charset="-122"/>
                <a:cs typeface="Calibri" pitchFamily="34" charset="-120"/>
              </a:rPr>
              <a:t>→</a:t>
            </a:r>
            <a:endParaRPr lang="en-US" sz="2200" dirty="0"/>
          </a:p>
        </p:txBody>
      </p:sp>
      <p:sp>
        <p:nvSpPr>
          <p:cNvPr id="21" name="Shape 17"/>
          <p:cNvSpPr/>
          <p:nvPr/>
        </p:nvSpPr>
        <p:spPr>
          <a:xfrm>
            <a:off x="7315200" y="5989320"/>
            <a:ext cx="1691640" cy="548640"/>
          </a:xfrm>
          <a:prstGeom prst="roundRect">
            <a:avLst>
              <a:gd name="adj" fmla="val 50000"/>
            </a:avLst>
          </a:prstGeom>
          <a:solidFill>
            <a:srgbClr val="D8452F"/>
          </a:solidFill>
          <a:ln/>
        </p:spPr>
      </p:sp>
      <p:sp>
        <p:nvSpPr>
          <p:cNvPr id="22" name="Text 18"/>
          <p:cNvSpPr/>
          <p:nvPr/>
        </p:nvSpPr>
        <p:spPr>
          <a:xfrm>
            <a:off x="7315200" y="5989320"/>
            <a:ext cx="1691640" cy="548640"/>
          </a:xfrm>
          <a:prstGeom prst="rect">
            <a:avLst/>
          </a:prstGeom>
          <a:noFill/>
          <a:ln/>
        </p:spPr>
        <p:txBody>
          <a:bodyPr wrap="square"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CHOOSE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01A17"/>
        </a:solidFill>
      </p:bgPr>
    </p:bg>
    <p:spTree>
      <p:nvGrpSpPr>
        <p:cNvPr id="1" name=""/>
        <p:cNvGrpSpPr/>
        <p:nvPr/>
      </p:nvGrpSpPr>
      <p:grpSpPr>
        <a:xfrm>
          <a:off x="0" y="0"/>
          <a:ext cx="0" cy="0"/>
          <a:chOff x="0" y="0"/>
          <a:chExt cx="0" cy="0"/>
        </a:xfrm>
      </p:grpSpPr>
      <p:sp>
        <p:nvSpPr>
          <p:cNvPr id="2" name="Shape 0"/>
          <p:cNvSpPr/>
          <p:nvPr/>
        </p:nvSpPr>
        <p:spPr>
          <a:xfrm>
            <a:off x="-1645920" y="4937760"/>
            <a:ext cx="3474720" cy="3474720"/>
          </a:xfrm>
          <a:prstGeom prst="ellipse">
            <a:avLst/>
          </a:prstGeom>
          <a:solidFill>
            <a:srgbClr val="2C2420"/>
          </a:solidFill>
          <a:ln/>
        </p:spPr>
      </p:sp>
      <p:sp>
        <p:nvSpPr>
          <p:cNvPr id="3" name="Text 1"/>
          <p:cNvSpPr/>
          <p:nvPr/>
        </p:nvSpPr>
        <p:spPr>
          <a:xfrm>
            <a:off x="640080" y="502920"/>
            <a:ext cx="7315200" cy="320040"/>
          </a:xfrm>
          <a:prstGeom prst="rect">
            <a:avLst/>
          </a:prstGeom>
          <a:noFill/>
          <a:ln/>
        </p:spPr>
        <p:txBody>
          <a:bodyPr wrap="square" rtlCol="0" anchor="ctr"/>
          <a:lstStyle/>
          <a:p>
            <a:pPr algn="l" indent="0" marL="0">
              <a:buNone/>
            </a:pPr>
            <a:r>
              <a:rPr lang="en-US" sz="1300" b="1" spc="300" kern="0" dirty="0">
                <a:solidFill>
                  <a:srgbClr val="F2820C"/>
                </a:solidFill>
                <a:latin typeface="Calibri" pitchFamily="34" charset="0"/>
                <a:ea typeface="Calibri" pitchFamily="34" charset="-122"/>
                <a:cs typeface="Calibri" pitchFamily="34" charset="-120"/>
              </a:rPr>
              <a:t>02 · THE WORDS ON THE PAGE</a:t>
            </a:r>
            <a:endParaRPr lang="en-US" sz="1300" dirty="0"/>
          </a:p>
        </p:txBody>
      </p:sp>
      <p:sp>
        <p:nvSpPr>
          <p:cNvPr id="4" name="Text 2"/>
          <p:cNvSpPr/>
          <p:nvPr/>
        </p:nvSpPr>
        <p:spPr>
          <a:xfrm>
            <a:off x="594360" y="822960"/>
            <a:ext cx="11064240" cy="822960"/>
          </a:xfrm>
          <a:prstGeom prst="rect">
            <a:avLst/>
          </a:prstGeom>
          <a:noFill/>
          <a:ln/>
        </p:spPr>
        <p:txBody>
          <a:bodyPr wrap="square" rtlCol="0" anchor="ctr"/>
          <a:lstStyle/>
          <a:p>
            <a:pPr algn="l" indent="0" marL="0">
              <a:buNone/>
            </a:pPr>
            <a:r>
              <a:rPr lang="en-US" sz="3800" b="1" dirty="0">
                <a:solidFill>
                  <a:srgbClr val="F7F0E7"/>
                </a:solidFill>
                <a:latin typeface="Calibri" pitchFamily="34" charset="0"/>
                <a:ea typeface="Calibri" pitchFamily="34" charset="-122"/>
                <a:cs typeface="Calibri" pitchFamily="34" charset="-120"/>
              </a:rPr>
              <a:t>The Menu Is </a:t>
            </a:r>
            <a:pPr algn="l" indent="0" marL="0">
              <a:buNone/>
            </a:pPr>
            <a:r>
              <a:rPr lang="en-US" sz="3800" b="1" dirty="0">
                <a:solidFill>
                  <a:srgbClr val="F2820C"/>
                </a:solidFill>
                <a:latin typeface="Calibri" pitchFamily="34" charset="0"/>
                <a:ea typeface="Calibri" pitchFamily="34" charset="-122"/>
                <a:cs typeface="Calibri" pitchFamily="34" charset="-120"/>
              </a:rPr>
              <a:t>Playing Tricks</a:t>
            </a:r>
            <a:pPr algn="l" indent="0" marL="0">
              <a:buNone/>
            </a:pPr>
            <a:r>
              <a:rPr lang="en-US" sz="3800" b="1" dirty="0">
                <a:solidFill>
                  <a:srgbClr val="F7F0E7"/>
                </a:solidFill>
                <a:latin typeface="Calibri" pitchFamily="34" charset="0"/>
                <a:ea typeface="Calibri" pitchFamily="34" charset="-122"/>
                <a:cs typeface="Calibri" pitchFamily="34" charset="-120"/>
              </a:rPr>
              <a:t> On You</a:t>
            </a:r>
            <a:endParaRPr lang="en-US" sz="3800" dirty="0"/>
          </a:p>
        </p:txBody>
      </p:sp>
      <p:sp>
        <p:nvSpPr>
          <p:cNvPr id="5" name="Text 3"/>
          <p:cNvSpPr/>
          <p:nvPr/>
        </p:nvSpPr>
        <p:spPr>
          <a:xfrm>
            <a:off x="640080" y="2148840"/>
            <a:ext cx="4937760" cy="457200"/>
          </a:xfrm>
          <a:prstGeom prst="rect">
            <a:avLst/>
          </a:prstGeom>
          <a:noFill/>
          <a:ln/>
        </p:spPr>
        <p:txBody>
          <a:bodyPr wrap="square" rtlCol="0" anchor="ctr"/>
          <a:lstStyle/>
          <a:p>
            <a:pPr indent="0" marL="0">
              <a:buNone/>
            </a:pPr>
            <a:r>
              <a:rPr lang="en-US" sz="2200" b="1" dirty="0">
                <a:solidFill>
                  <a:srgbClr val="E0A82E"/>
                </a:solidFill>
                <a:latin typeface="Calibri" pitchFamily="34" charset="0"/>
                <a:ea typeface="Calibri" pitchFamily="34" charset="-122"/>
                <a:cs typeface="Calibri" pitchFamily="34" charset="-120"/>
              </a:rPr>
              <a:t>Same food. Different words.</a:t>
            </a:r>
            <a:endParaRPr lang="en-US" sz="2200" dirty="0"/>
          </a:p>
        </p:txBody>
      </p:sp>
      <p:sp>
        <p:nvSpPr>
          <p:cNvPr id="6" name="Text 4"/>
          <p:cNvSpPr/>
          <p:nvPr/>
        </p:nvSpPr>
        <p:spPr>
          <a:xfrm>
            <a:off x="640080" y="2697480"/>
            <a:ext cx="4937760" cy="1463040"/>
          </a:xfrm>
          <a:prstGeom prst="rect">
            <a:avLst/>
          </a:prstGeom>
          <a:noFill/>
          <a:ln/>
        </p:spPr>
        <p:txBody>
          <a:bodyPr wrap="square" rtlCol="0" anchor="ctr"/>
          <a:lstStyle/>
          <a:p>
            <a:pPr indent="0" marL="0">
              <a:lnSpc>
                <a:spcPct val="115000"/>
              </a:lnSpc>
              <a:buNone/>
            </a:pPr>
            <a:r>
              <a:rPr lang="en-US" sz="1600" dirty="0">
                <a:solidFill>
                  <a:srgbClr val="B7A797"/>
                </a:solidFill>
                <a:latin typeface="Calibri" pitchFamily="34" charset="0"/>
                <a:ea typeface="Calibri" pitchFamily="34" charset="-122"/>
                <a:cs typeface="Calibri" pitchFamily="34" charset="-120"/>
              </a:rPr>
              <a:t>Restaurants carefully choose how food is described, where it sits on the page, and how the price is shown. Those choices quietly steer what catches your eye — and what you order.</a:t>
            </a:r>
            <a:endParaRPr lang="en-US" sz="1600" dirty="0"/>
          </a:p>
        </p:txBody>
      </p:sp>
      <p:sp>
        <p:nvSpPr>
          <p:cNvPr id="7" name="Shape 5"/>
          <p:cNvSpPr/>
          <p:nvPr/>
        </p:nvSpPr>
        <p:spPr>
          <a:xfrm>
            <a:off x="640080" y="4343400"/>
            <a:ext cx="4937760" cy="1417320"/>
          </a:xfrm>
          <a:prstGeom prst="roundRect">
            <a:avLst>
              <a:gd name="adj" fmla="val 9032"/>
            </a:avLst>
          </a:prstGeom>
          <a:solidFill>
            <a:srgbClr val="2C2420"/>
          </a:solidFill>
          <a:ln/>
        </p:spPr>
      </p:sp>
      <p:sp>
        <p:nvSpPr>
          <p:cNvPr id="8" name="Text 6"/>
          <p:cNvSpPr/>
          <p:nvPr/>
        </p:nvSpPr>
        <p:spPr>
          <a:xfrm>
            <a:off x="868680" y="4526280"/>
            <a:ext cx="4572000" cy="457200"/>
          </a:xfrm>
          <a:prstGeom prst="rect">
            <a:avLst/>
          </a:prstGeom>
          <a:noFill/>
          <a:ln/>
        </p:spPr>
        <p:txBody>
          <a:bodyPr wrap="square" rtlCol="0" anchor="ctr"/>
          <a:lstStyle/>
          <a:p>
            <a:pPr indent="0" marL="0">
              <a:buNone/>
            </a:pPr>
            <a:r>
              <a:rPr lang="en-US" sz="2000" b="1" dirty="0">
                <a:solidFill>
                  <a:srgbClr val="F7F0E7"/>
                </a:solidFill>
                <a:latin typeface="Calibri" pitchFamily="34" charset="0"/>
                <a:ea typeface="Calibri" pitchFamily="34" charset="-122"/>
                <a:cs typeface="Calibri" pitchFamily="34" charset="-120"/>
              </a:rPr>
              <a:t>We don't just read menus.</a:t>
            </a:r>
            <a:endParaRPr lang="en-US" sz="2000" dirty="0"/>
          </a:p>
        </p:txBody>
      </p:sp>
      <p:sp>
        <p:nvSpPr>
          <p:cNvPr id="9" name="Text 7"/>
          <p:cNvSpPr/>
          <p:nvPr/>
        </p:nvSpPr>
        <p:spPr>
          <a:xfrm>
            <a:off x="868680" y="4983480"/>
            <a:ext cx="4572000" cy="640080"/>
          </a:xfrm>
          <a:prstGeom prst="rect">
            <a:avLst/>
          </a:prstGeom>
          <a:noFill/>
          <a:ln/>
        </p:spPr>
        <p:txBody>
          <a:bodyPr wrap="square" rtlCol="0" anchor="ctr"/>
          <a:lstStyle/>
          <a:p>
            <a:pPr indent="0" marL="0">
              <a:buNone/>
            </a:pPr>
            <a:r>
              <a:rPr lang="en-US" sz="3000" b="1" dirty="0">
                <a:solidFill>
                  <a:srgbClr val="F7F0E7"/>
                </a:solidFill>
                <a:latin typeface="Calibri" pitchFamily="34" charset="0"/>
                <a:ea typeface="Calibri" pitchFamily="34" charset="-122"/>
                <a:cs typeface="Calibri" pitchFamily="34" charset="-120"/>
              </a:rPr>
              <a:t>We </a:t>
            </a:r>
            <a:pPr indent="0" marL="0">
              <a:buNone/>
            </a:pPr>
            <a:r>
              <a:rPr lang="en-US" sz="3000" b="1" dirty="0">
                <a:solidFill>
                  <a:srgbClr val="F2820C"/>
                </a:solidFill>
                <a:latin typeface="Calibri" pitchFamily="34" charset="0"/>
                <a:ea typeface="Calibri" pitchFamily="34" charset="-122"/>
                <a:cs typeface="Calibri" pitchFamily="34" charset="-120"/>
              </a:rPr>
              <a:t>react</a:t>
            </a:r>
            <a:pPr indent="0" marL="0">
              <a:buNone/>
            </a:pPr>
            <a:r>
              <a:rPr lang="en-US" sz="3000" b="1" dirty="0">
                <a:solidFill>
                  <a:srgbClr val="F7F0E7"/>
                </a:solidFill>
                <a:latin typeface="Calibri" pitchFamily="34" charset="0"/>
                <a:ea typeface="Calibri" pitchFamily="34" charset="-122"/>
                <a:cs typeface="Calibri" pitchFamily="34" charset="-120"/>
              </a:rPr>
              <a:t> to them.</a:t>
            </a:r>
            <a:endParaRPr lang="en-US" sz="3000" dirty="0"/>
          </a:p>
        </p:txBody>
      </p:sp>
      <p:sp>
        <p:nvSpPr>
          <p:cNvPr id="10" name="Shape 8"/>
          <p:cNvSpPr/>
          <p:nvPr/>
        </p:nvSpPr>
        <p:spPr>
          <a:xfrm>
            <a:off x="6263640" y="1783080"/>
            <a:ext cx="5257800" cy="4480560"/>
          </a:xfrm>
          <a:prstGeom prst="roundRect">
            <a:avLst>
              <a:gd name="adj" fmla="val 3265"/>
            </a:avLst>
          </a:prstGeom>
          <a:solidFill>
            <a:srgbClr val="17120F"/>
          </a:solidFill>
          <a:ln w="15875">
            <a:solidFill>
              <a:srgbClr val="E0A82E"/>
            </a:solidFill>
            <a:prstDash val="solid"/>
          </a:ln>
          <a:effectLst>
            <a:outerShdw sx="100000" sy="100000" kx="0" ky="0" algn="bl" rotWithShape="0" blurRad="177800" dist="76200" dir="5400000">
              <a:srgbClr val="000000">
                <a:alpha val="50000"/>
              </a:srgbClr>
            </a:outerShdw>
          </a:effectLst>
        </p:spPr>
      </p:sp>
      <p:sp>
        <p:nvSpPr>
          <p:cNvPr id="11" name="Text 9"/>
          <p:cNvSpPr/>
          <p:nvPr/>
        </p:nvSpPr>
        <p:spPr>
          <a:xfrm>
            <a:off x="6263640" y="2057400"/>
            <a:ext cx="5257800" cy="411480"/>
          </a:xfrm>
          <a:prstGeom prst="rect">
            <a:avLst/>
          </a:prstGeom>
          <a:noFill/>
          <a:ln/>
        </p:spPr>
        <p:txBody>
          <a:bodyPr wrap="square" rtlCol="0" anchor="ctr"/>
          <a:lstStyle/>
          <a:p>
            <a:pPr algn="ctr" indent="0" marL="0">
              <a:buNone/>
            </a:pPr>
            <a:r>
              <a:rPr lang="en-US" sz="2000" b="1" spc="400" kern="0" dirty="0">
                <a:solidFill>
                  <a:srgbClr val="E0A82E"/>
                </a:solidFill>
                <a:latin typeface="Calibri" pitchFamily="34" charset="0"/>
                <a:ea typeface="Calibri" pitchFamily="34" charset="-122"/>
                <a:cs typeface="Calibri" pitchFamily="34" charset="-120"/>
              </a:rPr>
              <a:t>TODAY'S SPECIAL</a:t>
            </a:r>
            <a:endParaRPr lang="en-US" sz="2000" dirty="0"/>
          </a:p>
        </p:txBody>
      </p:sp>
      <p:pic>
        <p:nvPicPr>
          <p:cNvPr id="12" name="Image 0" descr="img/burgerDeluxe.png">    </p:cNvPr>
          <p:cNvPicPr>
            <a:picLocks noChangeAspect="1"/>
          </p:cNvPicPr>
          <p:nvPr/>
        </p:nvPicPr>
        <p:blipFill>
          <a:blip r:embed="rId1"/>
          <a:stretch>
            <a:fillRect/>
          </a:stretch>
        </p:blipFill>
        <p:spPr>
          <a:xfrm>
            <a:off x="8206740" y="2377440"/>
            <a:ext cx="1371600" cy="1371600"/>
          </a:xfrm>
          <a:prstGeom prst="rect">
            <a:avLst/>
          </a:prstGeom>
        </p:spPr>
      </p:pic>
      <p:sp>
        <p:nvSpPr>
          <p:cNvPr id="13" name="Text 10"/>
          <p:cNvSpPr/>
          <p:nvPr/>
        </p:nvSpPr>
        <p:spPr>
          <a:xfrm>
            <a:off x="6583680" y="3886200"/>
            <a:ext cx="3977640" cy="320040"/>
          </a:xfrm>
          <a:prstGeom prst="rect">
            <a:avLst/>
          </a:prstGeom>
          <a:noFill/>
          <a:ln/>
        </p:spPr>
        <p:txBody>
          <a:bodyPr wrap="square" rtlCol="0" anchor="ctr"/>
          <a:lstStyle/>
          <a:p>
            <a:pPr algn="l" indent="0" marL="0">
              <a:buNone/>
            </a:pPr>
            <a:r>
              <a:rPr lang="en-US" sz="1600" b="1" dirty="0">
                <a:solidFill>
                  <a:srgbClr val="F7F0E7"/>
                </a:solidFill>
                <a:latin typeface="Calibri" pitchFamily="34" charset="0"/>
                <a:ea typeface="Calibri" pitchFamily="34" charset="-122"/>
                <a:cs typeface="Calibri" pitchFamily="34" charset="-120"/>
              </a:rPr>
              <a:t>The Classic Burger</a:t>
            </a:r>
            <a:endParaRPr lang="en-US" sz="1600" dirty="0"/>
          </a:p>
        </p:txBody>
      </p:sp>
      <p:sp>
        <p:nvSpPr>
          <p:cNvPr id="14" name="Text 11"/>
          <p:cNvSpPr/>
          <p:nvPr/>
        </p:nvSpPr>
        <p:spPr>
          <a:xfrm>
            <a:off x="10469880" y="3886200"/>
            <a:ext cx="777240" cy="320040"/>
          </a:xfrm>
          <a:prstGeom prst="rect">
            <a:avLst/>
          </a:prstGeom>
          <a:noFill/>
          <a:ln/>
        </p:spPr>
        <p:txBody>
          <a:bodyPr wrap="square" rtlCol="0" anchor="ctr"/>
          <a:lstStyle/>
          <a:p>
            <a:pPr algn="r" indent="0" marL="0">
              <a:buNone/>
            </a:pPr>
            <a:r>
              <a:rPr lang="en-US" sz="1600" b="1" dirty="0">
                <a:solidFill>
                  <a:srgbClr val="F7F0E7"/>
                </a:solidFill>
                <a:latin typeface="Calibri" pitchFamily="34" charset="0"/>
                <a:ea typeface="Calibri" pitchFamily="34" charset="-122"/>
                <a:cs typeface="Calibri" pitchFamily="34" charset="-120"/>
              </a:rPr>
              <a:t>$12</a:t>
            </a:r>
            <a:endParaRPr lang="en-US" sz="1600" dirty="0"/>
          </a:p>
        </p:txBody>
      </p:sp>
      <p:sp>
        <p:nvSpPr>
          <p:cNvPr id="15" name="Text 12"/>
          <p:cNvSpPr/>
          <p:nvPr/>
        </p:nvSpPr>
        <p:spPr>
          <a:xfrm>
            <a:off x="6583680" y="4315968"/>
            <a:ext cx="3977640" cy="320040"/>
          </a:xfrm>
          <a:prstGeom prst="rect">
            <a:avLst/>
          </a:prstGeom>
          <a:noFill/>
          <a:ln/>
        </p:spPr>
        <p:txBody>
          <a:bodyPr wrap="square" rtlCol="0" anchor="ctr"/>
          <a:lstStyle/>
          <a:p>
            <a:pPr algn="l" indent="0" marL="0">
              <a:buNone/>
            </a:pPr>
            <a:r>
              <a:rPr lang="en-US" sz="1700" b="1" dirty="0">
                <a:solidFill>
                  <a:srgbClr val="F2820C"/>
                </a:solidFill>
                <a:latin typeface="Calibri" pitchFamily="34" charset="0"/>
                <a:ea typeface="Calibri" pitchFamily="34" charset="-122"/>
                <a:cs typeface="Calibri" pitchFamily="34" charset="-120"/>
              </a:rPr>
              <a:t>Chef's Signature Beef Burger</a:t>
            </a:r>
            <a:endParaRPr lang="en-US" sz="1700" dirty="0"/>
          </a:p>
        </p:txBody>
      </p:sp>
      <p:sp>
        <p:nvSpPr>
          <p:cNvPr id="16" name="Text 13"/>
          <p:cNvSpPr/>
          <p:nvPr/>
        </p:nvSpPr>
        <p:spPr>
          <a:xfrm>
            <a:off x="10469880" y="4315968"/>
            <a:ext cx="777240" cy="320040"/>
          </a:xfrm>
          <a:prstGeom prst="rect">
            <a:avLst/>
          </a:prstGeom>
          <a:noFill/>
          <a:ln/>
        </p:spPr>
        <p:txBody>
          <a:bodyPr wrap="square" rtlCol="0" anchor="ctr"/>
          <a:lstStyle/>
          <a:p>
            <a:pPr algn="r" indent="0" marL="0">
              <a:buNone/>
            </a:pPr>
            <a:r>
              <a:rPr lang="en-US" sz="1600" b="1" dirty="0">
                <a:solidFill>
                  <a:srgbClr val="F2820C"/>
                </a:solidFill>
                <a:latin typeface="Calibri" pitchFamily="34" charset="0"/>
                <a:ea typeface="Calibri" pitchFamily="34" charset="-122"/>
                <a:cs typeface="Calibri" pitchFamily="34" charset="-120"/>
              </a:rPr>
              <a:t>$15</a:t>
            </a:r>
            <a:endParaRPr lang="en-US" sz="1600" dirty="0"/>
          </a:p>
        </p:txBody>
      </p:sp>
      <p:sp>
        <p:nvSpPr>
          <p:cNvPr id="17" name="Text 14"/>
          <p:cNvSpPr/>
          <p:nvPr/>
        </p:nvSpPr>
        <p:spPr>
          <a:xfrm>
            <a:off x="6583680" y="4608576"/>
            <a:ext cx="4617720" cy="457200"/>
          </a:xfrm>
          <a:prstGeom prst="rect">
            <a:avLst/>
          </a:prstGeom>
          <a:noFill/>
          <a:ln/>
        </p:spPr>
        <p:txBody>
          <a:bodyPr wrap="square" rtlCol="0" anchor="ctr"/>
          <a:lstStyle/>
          <a:p>
            <a:pPr indent="0" marL="0">
              <a:lnSpc>
                <a:spcPct val="100000"/>
              </a:lnSpc>
              <a:buNone/>
            </a:pPr>
            <a:r>
              <a:rPr lang="en-US" sz="1150" i="1" dirty="0">
                <a:solidFill>
                  <a:srgbClr val="F6A945"/>
                </a:solidFill>
                <a:latin typeface="Calibri" pitchFamily="34" charset="0"/>
                <a:ea typeface="Calibri" pitchFamily="34" charset="-122"/>
                <a:cs typeface="Calibri" pitchFamily="34" charset="-120"/>
              </a:rPr>
              <a:t>fire-grilled · caramelised onions · house sauce</a:t>
            </a:r>
            <a:endParaRPr lang="en-US" sz="1150" dirty="0"/>
          </a:p>
        </p:txBody>
      </p:sp>
      <p:sp>
        <p:nvSpPr>
          <p:cNvPr id="18" name="Text 15"/>
          <p:cNvSpPr/>
          <p:nvPr/>
        </p:nvSpPr>
        <p:spPr>
          <a:xfrm>
            <a:off x="6583680" y="5230368"/>
            <a:ext cx="3977640" cy="320040"/>
          </a:xfrm>
          <a:prstGeom prst="rect">
            <a:avLst/>
          </a:prstGeom>
          <a:noFill/>
          <a:ln/>
        </p:spPr>
        <p:txBody>
          <a:bodyPr wrap="square" rtlCol="0" anchor="ctr"/>
          <a:lstStyle/>
          <a:p>
            <a:pPr algn="l" indent="0" marL="0">
              <a:buNone/>
            </a:pPr>
            <a:r>
              <a:rPr lang="en-US" sz="1600" b="1" dirty="0">
                <a:solidFill>
                  <a:srgbClr val="F7F0E7"/>
                </a:solidFill>
                <a:latin typeface="Calibri" pitchFamily="34" charset="0"/>
                <a:ea typeface="Calibri" pitchFamily="34" charset="-122"/>
                <a:cs typeface="Calibri" pitchFamily="34" charset="-120"/>
              </a:rPr>
              <a:t>Fries</a:t>
            </a:r>
            <a:endParaRPr lang="en-US" sz="1600" dirty="0"/>
          </a:p>
        </p:txBody>
      </p:sp>
      <p:sp>
        <p:nvSpPr>
          <p:cNvPr id="19" name="Text 16"/>
          <p:cNvSpPr/>
          <p:nvPr/>
        </p:nvSpPr>
        <p:spPr>
          <a:xfrm>
            <a:off x="10469880" y="5230368"/>
            <a:ext cx="777240" cy="320040"/>
          </a:xfrm>
          <a:prstGeom prst="rect">
            <a:avLst/>
          </a:prstGeom>
          <a:noFill/>
          <a:ln/>
        </p:spPr>
        <p:txBody>
          <a:bodyPr wrap="square" rtlCol="0" anchor="ctr"/>
          <a:lstStyle/>
          <a:p>
            <a:pPr algn="r" indent="0" marL="0">
              <a:buNone/>
            </a:pPr>
            <a:r>
              <a:rPr lang="en-US" sz="1600" b="1" dirty="0">
                <a:solidFill>
                  <a:srgbClr val="F7F0E7"/>
                </a:solidFill>
                <a:latin typeface="Calibri" pitchFamily="34" charset="0"/>
                <a:ea typeface="Calibri" pitchFamily="34" charset="-122"/>
                <a:cs typeface="Calibri" pitchFamily="34" charset="-120"/>
              </a:rPr>
              <a:t>$5</a:t>
            </a:r>
            <a:endParaRPr lang="en-US" sz="1600" dirty="0"/>
          </a:p>
        </p:txBody>
      </p:sp>
      <p:sp>
        <p:nvSpPr>
          <p:cNvPr id="20" name="Shape 17"/>
          <p:cNvSpPr/>
          <p:nvPr/>
        </p:nvSpPr>
        <p:spPr>
          <a:xfrm>
            <a:off x="6583680" y="4251960"/>
            <a:ext cx="4617720" cy="0"/>
          </a:xfrm>
          <a:prstGeom prst="line">
            <a:avLst/>
          </a:prstGeom>
          <a:noFill/>
          <a:ln w="12700">
            <a:solidFill>
              <a:srgbClr val="3A302A"/>
            </a:solidFill>
            <a:prstDash val="solid"/>
          </a:ln>
        </p:spPr>
      </p:sp>
      <p:sp>
        <p:nvSpPr>
          <p:cNvPr id="21" name="Shape 18"/>
          <p:cNvSpPr/>
          <p:nvPr/>
        </p:nvSpPr>
        <p:spPr>
          <a:xfrm>
            <a:off x="6583680" y="5623560"/>
            <a:ext cx="4617720" cy="0"/>
          </a:xfrm>
          <a:prstGeom prst="line">
            <a:avLst/>
          </a:prstGeom>
          <a:noFill/>
          <a:ln w="12700">
            <a:solidFill>
              <a:srgbClr val="3A302A"/>
            </a:solidFill>
            <a:prstDash val="solid"/>
          </a:ln>
        </p:spPr>
      </p:sp>
      <p:sp>
        <p:nvSpPr>
          <p:cNvPr id="22" name="Shape 19"/>
          <p:cNvSpPr/>
          <p:nvPr/>
        </p:nvSpPr>
        <p:spPr>
          <a:xfrm>
            <a:off x="6766560" y="5779008"/>
            <a:ext cx="4251960" cy="384048"/>
          </a:xfrm>
          <a:prstGeom prst="roundRect">
            <a:avLst>
              <a:gd name="adj" fmla="val 50000"/>
            </a:avLst>
          </a:prstGeom>
          <a:solidFill>
            <a:srgbClr val="F2820C"/>
          </a:solidFill>
          <a:ln/>
        </p:spPr>
      </p:sp>
      <p:sp>
        <p:nvSpPr>
          <p:cNvPr id="23" name="Text 20"/>
          <p:cNvSpPr/>
          <p:nvPr/>
        </p:nvSpPr>
        <p:spPr>
          <a:xfrm>
            <a:off x="6766560" y="5779008"/>
            <a:ext cx="4251960" cy="384048"/>
          </a:xfrm>
          <a:prstGeom prst="rect">
            <a:avLst/>
          </a:prstGeom>
          <a:noFill/>
          <a:ln/>
        </p:spPr>
        <p:txBody>
          <a:bodyPr wrap="square" rtlCol="0" anchor="ctr"/>
          <a:lstStyle/>
          <a:p>
            <a:pPr algn="ctr" indent="0" marL="0">
              <a:buNone/>
            </a:pPr>
            <a:r>
              <a:rPr lang="en-US" sz="1400" b="1" dirty="0">
                <a:solidFill>
                  <a:srgbClr val="17120F"/>
                </a:solidFill>
                <a:latin typeface="Calibri" pitchFamily="34" charset="0"/>
                <a:ea typeface="Calibri" pitchFamily="34" charset="-122"/>
                <a:cs typeface="Calibri" pitchFamily="34" charset="-120"/>
              </a:rPr>
              <a:t>Which one would you order?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0E7"/>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algn="l" indent="0" marL="0">
              <a:buNone/>
            </a:pPr>
            <a:r>
              <a:rPr lang="en-US" sz="1300" b="1" spc="300" kern="0" dirty="0">
                <a:solidFill>
                  <a:srgbClr val="F2820C"/>
                </a:solidFill>
                <a:latin typeface="Calibri" pitchFamily="34" charset="0"/>
                <a:ea typeface="Calibri" pitchFamily="34" charset="-122"/>
                <a:cs typeface="Calibri" pitchFamily="34" charset="-120"/>
              </a:rPr>
              <a:t>03 · MEMORY &amp; EMOTION</a:t>
            </a:r>
            <a:endParaRPr lang="en-US" sz="1300" dirty="0"/>
          </a:p>
        </p:txBody>
      </p:sp>
      <p:sp>
        <p:nvSpPr>
          <p:cNvPr id="3" name="Text 1"/>
          <p:cNvSpPr/>
          <p:nvPr/>
        </p:nvSpPr>
        <p:spPr>
          <a:xfrm>
            <a:off x="594360" y="822960"/>
            <a:ext cx="10972800" cy="822960"/>
          </a:xfrm>
          <a:prstGeom prst="rect">
            <a:avLst/>
          </a:prstGeom>
          <a:noFill/>
          <a:ln/>
        </p:spPr>
        <p:txBody>
          <a:bodyPr wrap="square" rtlCol="0" anchor="ctr"/>
          <a:lstStyle/>
          <a:p>
            <a:pPr algn="l" indent="0" marL="0">
              <a:buNone/>
            </a:pPr>
            <a:r>
              <a:rPr lang="en-US" sz="4000" b="1" dirty="0">
                <a:solidFill>
                  <a:srgbClr val="2C2420"/>
                </a:solidFill>
                <a:latin typeface="Calibri" pitchFamily="34" charset="0"/>
                <a:ea typeface="Calibri" pitchFamily="34" charset="-122"/>
                <a:cs typeface="Calibri" pitchFamily="34" charset="-120"/>
              </a:rPr>
              <a:t>Food Is Connected To </a:t>
            </a:r>
            <a:pPr algn="l" indent="0" marL="0">
              <a:buNone/>
            </a:pPr>
            <a:r>
              <a:rPr lang="en-US" sz="4000" b="1" dirty="0">
                <a:solidFill>
                  <a:srgbClr val="F2820C"/>
                </a:solidFill>
                <a:latin typeface="Calibri" pitchFamily="34" charset="0"/>
                <a:ea typeface="Calibri" pitchFamily="34" charset="-122"/>
                <a:cs typeface="Calibri" pitchFamily="34" charset="-120"/>
              </a:rPr>
              <a:t>Memories</a:t>
            </a:r>
            <a:endParaRPr lang="en-US" sz="4000" dirty="0"/>
          </a:p>
        </p:txBody>
      </p:sp>
      <p:sp>
        <p:nvSpPr>
          <p:cNvPr id="4" name="Text 2"/>
          <p:cNvSpPr/>
          <p:nvPr/>
        </p:nvSpPr>
        <p:spPr>
          <a:xfrm>
            <a:off x="640080" y="1691640"/>
            <a:ext cx="10972800" cy="457200"/>
          </a:xfrm>
          <a:prstGeom prst="rect">
            <a:avLst/>
          </a:prstGeom>
          <a:noFill/>
          <a:ln/>
        </p:spPr>
        <p:txBody>
          <a:bodyPr wrap="square" rtlCol="0" anchor="ctr"/>
          <a:lstStyle/>
          <a:p>
            <a:pPr indent="0" marL="0">
              <a:buNone/>
            </a:pPr>
            <a:r>
              <a:rPr lang="en-US" sz="1700" i="1" dirty="0">
                <a:solidFill>
                  <a:srgbClr val="6B5D4F"/>
                </a:solidFill>
                <a:latin typeface="Calibri" pitchFamily="34" charset="0"/>
                <a:ea typeface="Calibri" pitchFamily="34" charset="-122"/>
                <a:cs typeface="Calibri" pitchFamily="34" charset="-120"/>
              </a:rPr>
              <a:t>Hunger isn't the whole story. Some foods carry a place, a person, a moment.</a:t>
            </a:r>
            <a:endParaRPr lang="en-US" sz="1700" dirty="0"/>
          </a:p>
        </p:txBody>
      </p:sp>
      <p:sp>
        <p:nvSpPr>
          <p:cNvPr id="5" name="Shape 3"/>
          <p:cNvSpPr/>
          <p:nvPr/>
        </p:nvSpPr>
        <p:spPr>
          <a:xfrm>
            <a:off x="777240" y="2423160"/>
            <a:ext cx="2286000" cy="2286000"/>
          </a:xfrm>
          <a:prstGeom prst="ellipse">
            <a:avLst/>
          </a:prstGeom>
          <a:solidFill>
            <a:srgbClr val="FFFFFF"/>
          </a:solidFill>
          <a:ln w="12700">
            <a:solidFill>
              <a:srgbClr val="E6DBCB"/>
            </a:solidFill>
            <a:prstDash val="solid"/>
          </a:ln>
          <a:effectLst>
            <a:outerShdw sx="100000" sy="100000" kx="0" ky="0" algn="bl" rotWithShape="0" blurRad="114300" dist="50800" dir="5400000">
              <a:srgbClr val="9A8B79">
                <a:alpha val="35000"/>
              </a:srgbClr>
            </a:outerShdw>
          </a:effectLst>
        </p:spPr>
      </p:sp>
      <p:pic>
        <p:nvPicPr>
          <p:cNvPr id="6" name="Image 0" descr="img/cookingPot.png">    </p:cNvPr>
          <p:cNvPicPr>
            <a:picLocks noChangeAspect="1"/>
          </p:cNvPicPr>
          <p:nvPr/>
        </p:nvPicPr>
        <p:blipFill>
          <a:blip r:embed="rId1"/>
          <a:stretch>
            <a:fillRect/>
          </a:stretch>
        </p:blipFill>
        <p:spPr>
          <a:xfrm>
            <a:off x="822960" y="2468880"/>
            <a:ext cx="2194560" cy="2194560"/>
          </a:xfrm>
          <a:prstGeom prst="rect">
            <a:avLst/>
          </a:prstGeom>
        </p:spPr>
      </p:pic>
      <p:sp>
        <p:nvSpPr>
          <p:cNvPr id="7" name="Text 4"/>
          <p:cNvSpPr/>
          <p:nvPr/>
        </p:nvSpPr>
        <p:spPr>
          <a:xfrm>
            <a:off x="502920" y="4681728"/>
            <a:ext cx="2834640" cy="320040"/>
          </a:xfrm>
          <a:prstGeom prst="rect">
            <a:avLst/>
          </a:prstGeom>
          <a:noFill/>
          <a:ln/>
        </p:spPr>
        <p:txBody>
          <a:bodyPr wrap="square" rtlCol="0" anchor="ctr"/>
          <a:lstStyle/>
          <a:p>
            <a:pPr algn="ctr" indent="0" marL="0">
              <a:buNone/>
            </a:pPr>
            <a:r>
              <a:rPr lang="en-US" sz="1350" b="1" spc="100" kern="0" dirty="0">
                <a:solidFill>
                  <a:srgbClr val="2C2420"/>
                </a:solidFill>
                <a:latin typeface="Calibri" pitchFamily="34" charset="0"/>
                <a:ea typeface="Calibri" pitchFamily="34" charset="-122"/>
                <a:cs typeface="Calibri" pitchFamily="34" charset="-120"/>
              </a:rPr>
              <a:t>HOME COOKING</a:t>
            </a:r>
            <a:endParaRPr lang="en-US" sz="1350" dirty="0"/>
          </a:p>
        </p:txBody>
      </p:sp>
      <p:sp>
        <p:nvSpPr>
          <p:cNvPr id="8" name="Shape 5"/>
          <p:cNvSpPr/>
          <p:nvPr/>
        </p:nvSpPr>
        <p:spPr>
          <a:xfrm>
            <a:off x="3657600" y="2423160"/>
            <a:ext cx="2286000" cy="2286000"/>
          </a:xfrm>
          <a:prstGeom prst="ellipse">
            <a:avLst/>
          </a:prstGeom>
          <a:solidFill>
            <a:srgbClr val="FFFFFF"/>
          </a:solidFill>
          <a:ln w="12700">
            <a:solidFill>
              <a:srgbClr val="E6DBCB"/>
            </a:solidFill>
            <a:prstDash val="solid"/>
          </a:ln>
          <a:effectLst>
            <a:outerShdw sx="100000" sy="100000" kx="0" ky="0" algn="bl" rotWithShape="0" blurRad="114300" dist="50800" dir="5400000">
              <a:srgbClr val="9A8B79">
                <a:alpha val="35000"/>
              </a:srgbClr>
            </a:outerShdw>
          </a:effectLst>
        </p:spPr>
      </p:sp>
      <p:pic>
        <p:nvPicPr>
          <p:cNvPr id="9" name="Image 1" descr="img/birthdayCake.png">    </p:cNvPr>
          <p:cNvPicPr>
            <a:picLocks noChangeAspect="1"/>
          </p:cNvPicPr>
          <p:nvPr/>
        </p:nvPicPr>
        <p:blipFill>
          <a:blip r:embed="rId2"/>
          <a:stretch>
            <a:fillRect/>
          </a:stretch>
        </p:blipFill>
        <p:spPr>
          <a:xfrm>
            <a:off x="3703320" y="2468880"/>
            <a:ext cx="2194560" cy="2194560"/>
          </a:xfrm>
          <a:prstGeom prst="rect">
            <a:avLst/>
          </a:prstGeom>
        </p:spPr>
      </p:pic>
      <p:sp>
        <p:nvSpPr>
          <p:cNvPr id="10" name="Text 6"/>
          <p:cNvSpPr/>
          <p:nvPr/>
        </p:nvSpPr>
        <p:spPr>
          <a:xfrm>
            <a:off x="3383280" y="4681728"/>
            <a:ext cx="2834640" cy="320040"/>
          </a:xfrm>
          <a:prstGeom prst="rect">
            <a:avLst/>
          </a:prstGeom>
          <a:noFill/>
          <a:ln/>
        </p:spPr>
        <p:txBody>
          <a:bodyPr wrap="square" rtlCol="0" anchor="ctr"/>
          <a:lstStyle/>
          <a:p>
            <a:pPr algn="ctr" indent="0" marL="0">
              <a:buNone/>
            </a:pPr>
            <a:r>
              <a:rPr lang="en-US" sz="1350" b="1" spc="100" kern="0" dirty="0">
                <a:solidFill>
                  <a:srgbClr val="2C2420"/>
                </a:solidFill>
                <a:latin typeface="Calibri" pitchFamily="34" charset="0"/>
                <a:ea typeface="Calibri" pitchFamily="34" charset="-122"/>
                <a:cs typeface="Calibri" pitchFamily="34" charset="-120"/>
              </a:rPr>
              <a:t>BIRTHDAY CAKE</a:t>
            </a:r>
            <a:endParaRPr lang="en-US" sz="1350" dirty="0"/>
          </a:p>
        </p:txBody>
      </p:sp>
      <p:sp>
        <p:nvSpPr>
          <p:cNvPr id="11" name="Shape 7"/>
          <p:cNvSpPr/>
          <p:nvPr/>
        </p:nvSpPr>
        <p:spPr>
          <a:xfrm>
            <a:off x="6537960" y="2423160"/>
            <a:ext cx="2286000" cy="2286000"/>
          </a:xfrm>
          <a:prstGeom prst="ellipse">
            <a:avLst/>
          </a:prstGeom>
          <a:solidFill>
            <a:srgbClr val="FFFFFF"/>
          </a:solidFill>
          <a:ln w="12700">
            <a:solidFill>
              <a:srgbClr val="E6DBCB"/>
            </a:solidFill>
            <a:prstDash val="solid"/>
          </a:ln>
          <a:effectLst>
            <a:outerShdw sx="100000" sy="100000" kx="0" ky="0" algn="bl" rotWithShape="0" blurRad="114300" dist="50800" dir="5400000">
              <a:srgbClr val="9A8B79">
                <a:alpha val="35000"/>
              </a:srgbClr>
            </a:outerShdw>
          </a:effectLst>
        </p:spPr>
      </p:sp>
      <p:pic>
        <p:nvPicPr>
          <p:cNvPr id="12" name="Image 2" descr="img/stewBowl.png">    </p:cNvPr>
          <p:cNvPicPr>
            <a:picLocks noChangeAspect="1"/>
          </p:cNvPicPr>
          <p:nvPr/>
        </p:nvPicPr>
        <p:blipFill>
          <a:blip r:embed="rId3"/>
          <a:stretch>
            <a:fillRect/>
          </a:stretch>
        </p:blipFill>
        <p:spPr>
          <a:xfrm>
            <a:off x="6583680" y="2468880"/>
            <a:ext cx="2194560" cy="2194560"/>
          </a:xfrm>
          <a:prstGeom prst="rect">
            <a:avLst/>
          </a:prstGeom>
        </p:spPr>
      </p:pic>
      <p:sp>
        <p:nvSpPr>
          <p:cNvPr id="13" name="Text 8"/>
          <p:cNvSpPr/>
          <p:nvPr/>
        </p:nvSpPr>
        <p:spPr>
          <a:xfrm>
            <a:off x="6263640" y="4681728"/>
            <a:ext cx="2834640" cy="320040"/>
          </a:xfrm>
          <a:prstGeom prst="rect">
            <a:avLst/>
          </a:prstGeom>
          <a:noFill/>
          <a:ln/>
        </p:spPr>
        <p:txBody>
          <a:bodyPr wrap="square" rtlCol="0" anchor="ctr"/>
          <a:lstStyle/>
          <a:p>
            <a:pPr algn="ctr" indent="0" marL="0">
              <a:buNone/>
            </a:pPr>
            <a:r>
              <a:rPr lang="en-US" sz="1350" b="1" spc="100" kern="0" dirty="0">
                <a:solidFill>
                  <a:srgbClr val="2C2420"/>
                </a:solidFill>
                <a:latin typeface="Calibri" pitchFamily="34" charset="0"/>
                <a:ea typeface="Calibri" pitchFamily="34" charset="-122"/>
                <a:cs typeface="Calibri" pitchFamily="34" charset="-120"/>
              </a:rPr>
              <a:t>FAMILY MEAL</a:t>
            </a:r>
            <a:endParaRPr lang="en-US" sz="1350" dirty="0"/>
          </a:p>
        </p:txBody>
      </p:sp>
      <p:sp>
        <p:nvSpPr>
          <p:cNvPr id="14" name="Shape 9"/>
          <p:cNvSpPr/>
          <p:nvPr/>
        </p:nvSpPr>
        <p:spPr>
          <a:xfrm>
            <a:off x="9418320" y="2423160"/>
            <a:ext cx="2286000" cy="2286000"/>
          </a:xfrm>
          <a:prstGeom prst="ellipse">
            <a:avLst/>
          </a:prstGeom>
          <a:solidFill>
            <a:srgbClr val="FFFFFF"/>
          </a:solidFill>
          <a:ln w="12700">
            <a:solidFill>
              <a:srgbClr val="E6DBCB"/>
            </a:solidFill>
            <a:prstDash val="solid"/>
          </a:ln>
          <a:effectLst>
            <a:outerShdw sx="100000" sy="100000" kx="0" ky="0" algn="bl" rotWithShape="0" blurRad="114300" dist="50800" dir="5400000">
              <a:srgbClr val="9A8B79">
                <a:alpha val="35000"/>
              </a:srgbClr>
            </a:outerShdw>
          </a:effectLst>
        </p:spPr>
      </p:sp>
      <p:pic>
        <p:nvPicPr>
          <p:cNvPr id="15" name="Image 3" descr="img/coffeeCup.png">    </p:cNvPr>
          <p:cNvPicPr>
            <a:picLocks noChangeAspect="1"/>
          </p:cNvPicPr>
          <p:nvPr/>
        </p:nvPicPr>
        <p:blipFill>
          <a:blip r:embed="rId4"/>
          <a:stretch>
            <a:fillRect/>
          </a:stretch>
        </p:blipFill>
        <p:spPr>
          <a:xfrm>
            <a:off x="9464040" y="2468880"/>
            <a:ext cx="2194560" cy="2194560"/>
          </a:xfrm>
          <a:prstGeom prst="rect">
            <a:avLst/>
          </a:prstGeom>
        </p:spPr>
      </p:pic>
      <p:sp>
        <p:nvSpPr>
          <p:cNvPr id="16" name="Text 10"/>
          <p:cNvSpPr/>
          <p:nvPr/>
        </p:nvSpPr>
        <p:spPr>
          <a:xfrm>
            <a:off x="9144000" y="4681728"/>
            <a:ext cx="2834640" cy="320040"/>
          </a:xfrm>
          <a:prstGeom prst="rect">
            <a:avLst/>
          </a:prstGeom>
          <a:noFill/>
          <a:ln/>
        </p:spPr>
        <p:txBody>
          <a:bodyPr wrap="square" rtlCol="0" anchor="ctr"/>
          <a:lstStyle/>
          <a:p>
            <a:pPr algn="ctr" indent="0" marL="0">
              <a:buNone/>
            </a:pPr>
            <a:r>
              <a:rPr lang="en-US" sz="1350" b="1" spc="100" kern="0" dirty="0">
                <a:solidFill>
                  <a:srgbClr val="2C2420"/>
                </a:solidFill>
                <a:latin typeface="Calibri" pitchFamily="34" charset="0"/>
                <a:ea typeface="Calibri" pitchFamily="34" charset="-122"/>
                <a:cs typeface="Calibri" pitchFamily="34" charset="-120"/>
              </a:rPr>
              <a:t>TEA &amp; COFFEE</a:t>
            </a:r>
            <a:endParaRPr lang="en-US" sz="1350" dirty="0"/>
          </a:p>
        </p:txBody>
      </p:sp>
      <p:sp>
        <p:nvSpPr>
          <p:cNvPr id="17" name="Text 11"/>
          <p:cNvSpPr/>
          <p:nvPr/>
        </p:nvSpPr>
        <p:spPr>
          <a:xfrm>
            <a:off x="640080" y="5532120"/>
            <a:ext cx="10972800" cy="548640"/>
          </a:xfrm>
          <a:prstGeom prst="rect">
            <a:avLst/>
          </a:prstGeom>
          <a:noFill/>
          <a:ln/>
        </p:spPr>
        <p:txBody>
          <a:bodyPr wrap="square" rtlCol="0" anchor="ctr"/>
          <a:lstStyle/>
          <a:p>
            <a:pPr algn="ctr" indent="0" marL="0">
              <a:buNone/>
            </a:pPr>
            <a:r>
              <a:rPr lang="en-US" sz="3000" b="1" dirty="0">
                <a:solidFill>
                  <a:srgbClr val="2C2420"/>
                </a:solidFill>
                <a:latin typeface="Calibri" pitchFamily="34" charset="0"/>
                <a:ea typeface="Calibri" pitchFamily="34" charset="-122"/>
                <a:cs typeface="Calibri" pitchFamily="34" charset="-120"/>
              </a:rPr>
              <a:t>What food takes you back?</a:t>
            </a:r>
            <a:endParaRPr lang="en-US" sz="3000" dirty="0"/>
          </a:p>
        </p:txBody>
      </p:sp>
      <p:sp>
        <p:nvSpPr>
          <p:cNvPr id="18" name="Text 12"/>
          <p:cNvSpPr/>
          <p:nvPr/>
        </p:nvSpPr>
        <p:spPr>
          <a:xfrm>
            <a:off x="640080" y="6126480"/>
            <a:ext cx="10972800" cy="365760"/>
          </a:xfrm>
          <a:prstGeom prst="rect">
            <a:avLst/>
          </a:prstGeom>
          <a:noFill/>
          <a:ln/>
        </p:spPr>
        <p:txBody>
          <a:bodyPr wrap="square" rtlCol="0" anchor="ctr"/>
          <a:lstStyle/>
          <a:p>
            <a:pPr algn="ctr" indent="0" marL="0">
              <a:buNone/>
            </a:pPr>
            <a:r>
              <a:rPr lang="en-US" sz="1500" i="1" dirty="0">
                <a:solidFill>
                  <a:srgbClr val="6B5D4F"/>
                </a:solidFill>
                <a:latin typeface="Calibri" pitchFamily="34" charset="0"/>
                <a:ea typeface="Calibri" pitchFamily="34" charset="-122"/>
                <a:cs typeface="Calibri" pitchFamily="34" charset="-120"/>
              </a:rPr>
              <a:t>That's one reason we don't all choose the same way — our memories choose with us.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01A17"/>
        </a:solidFill>
      </p:bgPr>
    </p:bg>
    <p:spTree>
      <p:nvGrpSpPr>
        <p:cNvPr id="1" name=""/>
        <p:cNvGrpSpPr/>
        <p:nvPr/>
      </p:nvGrpSpPr>
      <p:grpSpPr>
        <a:xfrm>
          <a:off x="0" y="0"/>
          <a:ext cx="0" cy="0"/>
          <a:chOff x="0" y="0"/>
          <a:chExt cx="0" cy="0"/>
        </a:xfrm>
      </p:grpSpPr>
      <p:sp>
        <p:nvSpPr>
          <p:cNvPr id="2" name="Shape 0"/>
          <p:cNvSpPr/>
          <p:nvPr/>
        </p:nvSpPr>
        <p:spPr>
          <a:xfrm>
            <a:off x="9875520" y="-1554480"/>
            <a:ext cx="3657600" cy="3657600"/>
          </a:xfrm>
          <a:prstGeom prst="ellipse">
            <a:avLst/>
          </a:prstGeom>
          <a:solidFill>
            <a:srgbClr val="2C2420"/>
          </a:solidFill>
          <a:ln/>
        </p:spPr>
      </p:sp>
      <p:sp>
        <p:nvSpPr>
          <p:cNvPr id="3" name="Text 1"/>
          <p:cNvSpPr/>
          <p:nvPr/>
        </p:nvSpPr>
        <p:spPr>
          <a:xfrm>
            <a:off x="640080" y="502920"/>
            <a:ext cx="7315200" cy="320040"/>
          </a:xfrm>
          <a:prstGeom prst="rect">
            <a:avLst/>
          </a:prstGeom>
          <a:noFill/>
          <a:ln/>
        </p:spPr>
        <p:txBody>
          <a:bodyPr wrap="square" rtlCol="0" anchor="ctr"/>
          <a:lstStyle/>
          <a:p>
            <a:pPr algn="l" indent="0" marL="0">
              <a:buNone/>
            </a:pPr>
            <a:r>
              <a:rPr lang="en-US" sz="1300" b="1" spc="300" kern="0" dirty="0">
                <a:solidFill>
                  <a:srgbClr val="F2820C"/>
                </a:solidFill>
                <a:latin typeface="Calibri" pitchFamily="34" charset="0"/>
                <a:ea typeface="Calibri" pitchFamily="34" charset="-122"/>
                <a:cs typeface="Calibri" pitchFamily="34" charset="-120"/>
              </a:rPr>
              <a:t>04 · BRINGING IT TOGETHER</a:t>
            </a:r>
            <a:endParaRPr lang="en-US" sz="1300" dirty="0"/>
          </a:p>
        </p:txBody>
      </p:sp>
      <p:sp>
        <p:nvSpPr>
          <p:cNvPr id="4" name="Text 2"/>
          <p:cNvSpPr/>
          <p:nvPr/>
        </p:nvSpPr>
        <p:spPr>
          <a:xfrm>
            <a:off x="594360" y="822960"/>
            <a:ext cx="11064240" cy="822960"/>
          </a:xfrm>
          <a:prstGeom prst="rect">
            <a:avLst/>
          </a:prstGeom>
          <a:noFill/>
          <a:ln/>
        </p:spPr>
        <p:txBody>
          <a:bodyPr wrap="square" rtlCol="0" anchor="ctr"/>
          <a:lstStyle/>
          <a:p>
            <a:pPr algn="l" indent="0" marL="0">
              <a:buNone/>
            </a:pPr>
            <a:r>
              <a:rPr lang="en-US" sz="4000" b="1" dirty="0">
                <a:solidFill>
                  <a:srgbClr val="F7F0E7"/>
                </a:solidFill>
                <a:latin typeface="Calibri" pitchFamily="34" charset="0"/>
                <a:ea typeface="Calibri" pitchFamily="34" charset="-122"/>
                <a:cs typeface="Calibri" pitchFamily="34" charset="-120"/>
              </a:rPr>
              <a:t>So… Who Is Actually </a:t>
            </a:r>
            <a:pPr algn="l" indent="0" marL="0">
              <a:buNone/>
            </a:pPr>
            <a:r>
              <a:rPr lang="en-US" sz="4000" b="1" dirty="0">
                <a:solidFill>
                  <a:srgbClr val="F2820C"/>
                </a:solidFill>
                <a:latin typeface="Calibri" pitchFamily="34" charset="0"/>
                <a:ea typeface="Calibri" pitchFamily="34" charset="-122"/>
                <a:cs typeface="Calibri" pitchFamily="34" charset="-120"/>
              </a:rPr>
              <a:t>Choosing?</a:t>
            </a:r>
            <a:endParaRPr lang="en-US" sz="4000" dirty="0"/>
          </a:p>
        </p:txBody>
      </p:sp>
      <p:sp>
        <p:nvSpPr>
          <p:cNvPr id="5" name="Shape 3"/>
          <p:cNvSpPr/>
          <p:nvPr/>
        </p:nvSpPr>
        <p:spPr>
          <a:xfrm>
            <a:off x="640080" y="2148840"/>
            <a:ext cx="2514600" cy="1554480"/>
          </a:xfrm>
          <a:prstGeom prst="roundRect">
            <a:avLst>
              <a:gd name="adj" fmla="val 8235"/>
            </a:avLst>
          </a:prstGeom>
          <a:solidFill>
            <a:srgbClr val="2C2420"/>
          </a:solidFill>
          <a:ln/>
        </p:spPr>
      </p:sp>
      <p:sp>
        <p:nvSpPr>
          <p:cNvPr id="6" name="Shape 4"/>
          <p:cNvSpPr/>
          <p:nvPr/>
        </p:nvSpPr>
        <p:spPr>
          <a:xfrm>
            <a:off x="1641348" y="2404872"/>
            <a:ext cx="512064" cy="512064"/>
          </a:xfrm>
          <a:prstGeom prst="ellipse">
            <a:avLst/>
          </a:prstGeom>
          <a:solidFill>
            <a:srgbClr val="8CC152"/>
          </a:solidFill>
          <a:ln/>
        </p:spPr>
      </p:sp>
      <p:sp>
        <p:nvSpPr>
          <p:cNvPr id="7" name="Text 5"/>
          <p:cNvSpPr/>
          <p:nvPr/>
        </p:nvSpPr>
        <p:spPr>
          <a:xfrm>
            <a:off x="1641348" y="2404872"/>
            <a:ext cx="512064" cy="512064"/>
          </a:xfrm>
          <a:prstGeom prst="rect">
            <a:avLst/>
          </a:prstGeom>
          <a:noFill/>
          <a:ln/>
        </p:spPr>
        <p:txBody>
          <a:bodyPr wrap="square" rtlCol="0" anchor="ctr"/>
          <a:lstStyle/>
          <a:p>
            <a:pPr algn="ctr" indent="0" marL="0">
              <a:buNone/>
            </a:pPr>
            <a:r>
              <a:rPr lang="en-US" sz="1800" b="1" dirty="0">
                <a:solidFill>
                  <a:srgbClr val="201A17"/>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640080" y="2990088"/>
            <a:ext cx="2514600" cy="365760"/>
          </a:xfrm>
          <a:prstGeom prst="rect">
            <a:avLst/>
          </a:prstGeom>
          <a:noFill/>
          <a:ln/>
        </p:spPr>
        <p:txBody>
          <a:bodyPr wrap="square" rtlCol="0" anchor="ctr"/>
          <a:lstStyle/>
          <a:p>
            <a:pPr algn="ctr" indent="0" marL="0">
              <a:buNone/>
            </a:pPr>
            <a:r>
              <a:rPr lang="en-US" sz="2000" b="1" dirty="0">
                <a:solidFill>
                  <a:srgbClr val="F7F0E7"/>
                </a:solidFill>
                <a:latin typeface="Calibri" pitchFamily="34" charset="0"/>
                <a:ea typeface="Calibri" pitchFamily="34" charset="-122"/>
                <a:cs typeface="Calibri" pitchFamily="34" charset="-120"/>
              </a:rPr>
              <a:t>See</a:t>
            </a:r>
            <a:endParaRPr lang="en-US" sz="2000" dirty="0"/>
          </a:p>
        </p:txBody>
      </p:sp>
      <p:sp>
        <p:nvSpPr>
          <p:cNvPr id="9" name="Text 7"/>
          <p:cNvSpPr/>
          <p:nvPr/>
        </p:nvSpPr>
        <p:spPr>
          <a:xfrm>
            <a:off x="640080" y="3337560"/>
            <a:ext cx="2514600" cy="320040"/>
          </a:xfrm>
          <a:prstGeom prst="rect">
            <a:avLst/>
          </a:prstGeom>
          <a:noFill/>
          <a:ln/>
        </p:spPr>
        <p:txBody>
          <a:bodyPr wrap="square" rtlCol="0" anchor="ctr"/>
          <a:lstStyle/>
          <a:p>
            <a:pPr algn="ctr" indent="0" marL="0">
              <a:buNone/>
            </a:pPr>
            <a:r>
              <a:rPr lang="en-US" sz="1250" i="1" dirty="0">
                <a:solidFill>
                  <a:srgbClr val="B7A797"/>
                </a:solidFill>
                <a:latin typeface="Calibri" pitchFamily="34" charset="0"/>
                <a:ea typeface="Calibri" pitchFamily="34" charset="-122"/>
                <a:cs typeface="Calibri" pitchFamily="34" charset="-120"/>
              </a:rPr>
              <a:t>colour &amp; plating</a:t>
            </a:r>
            <a:endParaRPr lang="en-US" sz="1250" dirty="0"/>
          </a:p>
        </p:txBody>
      </p:sp>
      <p:sp>
        <p:nvSpPr>
          <p:cNvPr id="10" name="Text 8"/>
          <p:cNvSpPr/>
          <p:nvPr/>
        </p:nvSpPr>
        <p:spPr>
          <a:xfrm>
            <a:off x="3154680" y="2148840"/>
            <a:ext cx="365760" cy="1554480"/>
          </a:xfrm>
          <a:prstGeom prst="rect">
            <a:avLst/>
          </a:prstGeom>
          <a:noFill/>
          <a:ln/>
        </p:spPr>
        <p:txBody>
          <a:bodyPr wrap="square" rtlCol="0" anchor="ctr"/>
          <a:lstStyle/>
          <a:p>
            <a:pPr algn="ctr" indent="0" marL="0">
              <a:buNone/>
            </a:pPr>
            <a:r>
              <a:rPr lang="en-US" sz="2600" b="1" dirty="0">
                <a:solidFill>
                  <a:srgbClr val="F2820C"/>
                </a:solidFill>
                <a:latin typeface="Calibri" pitchFamily="34" charset="0"/>
                <a:ea typeface="Calibri" pitchFamily="34" charset="-122"/>
                <a:cs typeface="Calibri" pitchFamily="34" charset="-120"/>
              </a:rPr>
              <a:t>+</a:t>
            </a:r>
            <a:endParaRPr lang="en-US" sz="2600" dirty="0"/>
          </a:p>
        </p:txBody>
      </p:sp>
      <p:sp>
        <p:nvSpPr>
          <p:cNvPr id="11" name="Shape 9"/>
          <p:cNvSpPr/>
          <p:nvPr/>
        </p:nvSpPr>
        <p:spPr>
          <a:xfrm>
            <a:off x="3520440" y="2148840"/>
            <a:ext cx="2514600" cy="1554480"/>
          </a:xfrm>
          <a:prstGeom prst="roundRect">
            <a:avLst>
              <a:gd name="adj" fmla="val 8235"/>
            </a:avLst>
          </a:prstGeom>
          <a:solidFill>
            <a:srgbClr val="2C2420"/>
          </a:solidFill>
          <a:ln/>
        </p:spPr>
      </p:sp>
      <p:sp>
        <p:nvSpPr>
          <p:cNvPr id="12" name="Shape 10"/>
          <p:cNvSpPr/>
          <p:nvPr/>
        </p:nvSpPr>
        <p:spPr>
          <a:xfrm>
            <a:off x="4521708" y="2404872"/>
            <a:ext cx="512064" cy="512064"/>
          </a:xfrm>
          <a:prstGeom prst="ellipse">
            <a:avLst/>
          </a:prstGeom>
          <a:solidFill>
            <a:srgbClr val="F6A945"/>
          </a:solidFill>
          <a:ln/>
        </p:spPr>
      </p:sp>
      <p:sp>
        <p:nvSpPr>
          <p:cNvPr id="13" name="Text 11"/>
          <p:cNvSpPr/>
          <p:nvPr/>
        </p:nvSpPr>
        <p:spPr>
          <a:xfrm>
            <a:off x="4521708" y="2404872"/>
            <a:ext cx="512064" cy="512064"/>
          </a:xfrm>
          <a:prstGeom prst="rect">
            <a:avLst/>
          </a:prstGeom>
          <a:noFill/>
          <a:ln/>
        </p:spPr>
        <p:txBody>
          <a:bodyPr wrap="square" rtlCol="0" anchor="ctr"/>
          <a:lstStyle/>
          <a:p>
            <a:pPr algn="ctr" indent="0" marL="0">
              <a:buNone/>
            </a:pPr>
            <a:r>
              <a:rPr lang="en-US" sz="1800" b="1" dirty="0">
                <a:solidFill>
                  <a:srgbClr val="201A17"/>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3520440" y="2990088"/>
            <a:ext cx="2514600" cy="365760"/>
          </a:xfrm>
          <a:prstGeom prst="rect">
            <a:avLst/>
          </a:prstGeom>
          <a:noFill/>
          <a:ln/>
        </p:spPr>
        <p:txBody>
          <a:bodyPr wrap="square" rtlCol="0" anchor="ctr"/>
          <a:lstStyle/>
          <a:p>
            <a:pPr algn="ctr" indent="0" marL="0">
              <a:buNone/>
            </a:pPr>
            <a:r>
              <a:rPr lang="en-US" sz="2000" b="1" dirty="0">
                <a:solidFill>
                  <a:srgbClr val="F7F0E7"/>
                </a:solidFill>
                <a:latin typeface="Calibri" pitchFamily="34" charset="0"/>
                <a:ea typeface="Calibri" pitchFamily="34" charset="-122"/>
                <a:cs typeface="Calibri" pitchFamily="34" charset="-120"/>
              </a:rPr>
              <a:t>Expect</a:t>
            </a:r>
            <a:endParaRPr lang="en-US" sz="2000" dirty="0"/>
          </a:p>
        </p:txBody>
      </p:sp>
      <p:sp>
        <p:nvSpPr>
          <p:cNvPr id="15" name="Text 13"/>
          <p:cNvSpPr/>
          <p:nvPr/>
        </p:nvSpPr>
        <p:spPr>
          <a:xfrm>
            <a:off x="3520440" y="3337560"/>
            <a:ext cx="2514600" cy="320040"/>
          </a:xfrm>
          <a:prstGeom prst="rect">
            <a:avLst/>
          </a:prstGeom>
          <a:noFill/>
          <a:ln/>
        </p:spPr>
        <p:txBody>
          <a:bodyPr wrap="square" rtlCol="0" anchor="ctr"/>
          <a:lstStyle/>
          <a:p>
            <a:pPr algn="ctr" indent="0" marL="0">
              <a:buNone/>
            </a:pPr>
            <a:r>
              <a:rPr lang="en-US" sz="1250" i="1" dirty="0">
                <a:solidFill>
                  <a:srgbClr val="B7A797"/>
                </a:solidFill>
                <a:latin typeface="Calibri" pitchFamily="34" charset="0"/>
                <a:ea typeface="Calibri" pitchFamily="34" charset="-122"/>
                <a:cs typeface="Calibri" pitchFamily="34" charset="-120"/>
              </a:rPr>
              <a:t>before we taste</a:t>
            </a:r>
            <a:endParaRPr lang="en-US" sz="1250" dirty="0"/>
          </a:p>
        </p:txBody>
      </p:sp>
      <p:sp>
        <p:nvSpPr>
          <p:cNvPr id="16" name="Text 14"/>
          <p:cNvSpPr/>
          <p:nvPr/>
        </p:nvSpPr>
        <p:spPr>
          <a:xfrm>
            <a:off x="6035040" y="2148840"/>
            <a:ext cx="365760" cy="1554480"/>
          </a:xfrm>
          <a:prstGeom prst="rect">
            <a:avLst/>
          </a:prstGeom>
          <a:noFill/>
          <a:ln/>
        </p:spPr>
        <p:txBody>
          <a:bodyPr wrap="square" rtlCol="0" anchor="ctr"/>
          <a:lstStyle/>
          <a:p>
            <a:pPr algn="ctr" indent="0" marL="0">
              <a:buNone/>
            </a:pPr>
            <a:r>
              <a:rPr lang="en-US" sz="2600" b="1" dirty="0">
                <a:solidFill>
                  <a:srgbClr val="F2820C"/>
                </a:solidFill>
                <a:latin typeface="Calibri" pitchFamily="34" charset="0"/>
                <a:ea typeface="Calibri" pitchFamily="34" charset="-122"/>
                <a:cs typeface="Calibri" pitchFamily="34" charset="-120"/>
              </a:rPr>
              <a:t>+</a:t>
            </a:r>
            <a:endParaRPr lang="en-US" sz="2600" dirty="0"/>
          </a:p>
        </p:txBody>
      </p:sp>
      <p:sp>
        <p:nvSpPr>
          <p:cNvPr id="17" name="Shape 15"/>
          <p:cNvSpPr/>
          <p:nvPr/>
        </p:nvSpPr>
        <p:spPr>
          <a:xfrm>
            <a:off x="6400800" y="2148840"/>
            <a:ext cx="2514600" cy="1554480"/>
          </a:xfrm>
          <a:prstGeom prst="roundRect">
            <a:avLst>
              <a:gd name="adj" fmla="val 8235"/>
            </a:avLst>
          </a:prstGeom>
          <a:solidFill>
            <a:srgbClr val="2C2420"/>
          </a:solidFill>
          <a:ln/>
        </p:spPr>
      </p:sp>
      <p:sp>
        <p:nvSpPr>
          <p:cNvPr id="18" name="Shape 16"/>
          <p:cNvSpPr/>
          <p:nvPr/>
        </p:nvSpPr>
        <p:spPr>
          <a:xfrm>
            <a:off x="7402068" y="2404872"/>
            <a:ext cx="512064" cy="512064"/>
          </a:xfrm>
          <a:prstGeom prst="ellipse">
            <a:avLst/>
          </a:prstGeom>
          <a:solidFill>
            <a:srgbClr val="D8452F"/>
          </a:solidFill>
          <a:ln/>
        </p:spPr>
      </p:sp>
      <p:sp>
        <p:nvSpPr>
          <p:cNvPr id="19" name="Text 17"/>
          <p:cNvSpPr/>
          <p:nvPr/>
        </p:nvSpPr>
        <p:spPr>
          <a:xfrm>
            <a:off x="7402068" y="2404872"/>
            <a:ext cx="512064" cy="512064"/>
          </a:xfrm>
          <a:prstGeom prst="rect">
            <a:avLst/>
          </a:prstGeom>
          <a:noFill/>
          <a:ln/>
        </p:spPr>
        <p:txBody>
          <a:bodyPr wrap="square" rtlCol="0" anchor="ctr"/>
          <a:lstStyle/>
          <a:p>
            <a:pPr algn="ctr" indent="0" marL="0">
              <a:buNone/>
            </a:pPr>
            <a:r>
              <a:rPr lang="en-US" sz="1800" b="1" dirty="0">
                <a:solidFill>
                  <a:srgbClr val="201A17"/>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6400800" y="2990088"/>
            <a:ext cx="2514600" cy="365760"/>
          </a:xfrm>
          <a:prstGeom prst="rect">
            <a:avLst/>
          </a:prstGeom>
          <a:noFill/>
          <a:ln/>
        </p:spPr>
        <p:txBody>
          <a:bodyPr wrap="square" rtlCol="0" anchor="ctr"/>
          <a:lstStyle/>
          <a:p>
            <a:pPr algn="ctr" indent="0" marL="0">
              <a:buNone/>
            </a:pPr>
            <a:r>
              <a:rPr lang="en-US" sz="2000" b="1" dirty="0">
                <a:solidFill>
                  <a:srgbClr val="F7F0E7"/>
                </a:solidFill>
                <a:latin typeface="Calibri" pitchFamily="34" charset="0"/>
                <a:ea typeface="Calibri" pitchFamily="34" charset="-122"/>
                <a:cs typeface="Calibri" pitchFamily="34" charset="-120"/>
              </a:rPr>
              <a:t>Remember</a:t>
            </a:r>
            <a:endParaRPr lang="en-US" sz="2000" dirty="0"/>
          </a:p>
        </p:txBody>
      </p:sp>
      <p:sp>
        <p:nvSpPr>
          <p:cNvPr id="21" name="Text 19"/>
          <p:cNvSpPr/>
          <p:nvPr/>
        </p:nvSpPr>
        <p:spPr>
          <a:xfrm>
            <a:off x="6400800" y="3337560"/>
            <a:ext cx="2514600" cy="320040"/>
          </a:xfrm>
          <a:prstGeom prst="rect">
            <a:avLst/>
          </a:prstGeom>
          <a:noFill/>
          <a:ln/>
        </p:spPr>
        <p:txBody>
          <a:bodyPr wrap="square" rtlCol="0" anchor="ctr"/>
          <a:lstStyle/>
          <a:p>
            <a:pPr algn="ctr" indent="0" marL="0">
              <a:buNone/>
            </a:pPr>
            <a:r>
              <a:rPr lang="en-US" sz="1250" i="1" dirty="0">
                <a:solidFill>
                  <a:srgbClr val="B7A797"/>
                </a:solidFill>
                <a:latin typeface="Calibri" pitchFamily="34" charset="0"/>
                <a:ea typeface="Calibri" pitchFamily="34" charset="-122"/>
                <a:cs typeface="Calibri" pitchFamily="34" charset="-120"/>
              </a:rPr>
              <a:t>people &amp; moments</a:t>
            </a:r>
            <a:endParaRPr lang="en-US" sz="1250" dirty="0"/>
          </a:p>
        </p:txBody>
      </p:sp>
      <p:sp>
        <p:nvSpPr>
          <p:cNvPr id="22" name="Text 20"/>
          <p:cNvSpPr/>
          <p:nvPr/>
        </p:nvSpPr>
        <p:spPr>
          <a:xfrm>
            <a:off x="8915400" y="2148840"/>
            <a:ext cx="365760" cy="1554480"/>
          </a:xfrm>
          <a:prstGeom prst="rect">
            <a:avLst/>
          </a:prstGeom>
          <a:noFill/>
          <a:ln/>
        </p:spPr>
        <p:txBody>
          <a:bodyPr wrap="square" rtlCol="0" anchor="ctr"/>
          <a:lstStyle/>
          <a:p>
            <a:pPr algn="ctr" indent="0" marL="0">
              <a:buNone/>
            </a:pPr>
            <a:r>
              <a:rPr lang="en-US" sz="2600" b="1" dirty="0">
                <a:solidFill>
                  <a:srgbClr val="F2820C"/>
                </a:solidFill>
                <a:latin typeface="Calibri" pitchFamily="34" charset="0"/>
                <a:ea typeface="Calibri" pitchFamily="34" charset="-122"/>
                <a:cs typeface="Calibri" pitchFamily="34" charset="-120"/>
              </a:rPr>
              <a:t>+</a:t>
            </a:r>
            <a:endParaRPr lang="en-US" sz="2600" dirty="0"/>
          </a:p>
        </p:txBody>
      </p:sp>
      <p:sp>
        <p:nvSpPr>
          <p:cNvPr id="23" name="Shape 21"/>
          <p:cNvSpPr/>
          <p:nvPr/>
        </p:nvSpPr>
        <p:spPr>
          <a:xfrm>
            <a:off x="9281160" y="2148840"/>
            <a:ext cx="2514600" cy="1554480"/>
          </a:xfrm>
          <a:prstGeom prst="roundRect">
            <a:avLst>
              <a:gd name="adj" fmla="val 8235"/>
            </a:avLst>
          </a:prstGeom>
          <a:solidFill>
            <a:srgbClr val="2C2420"/>
          </a:solidFill>
          <a:ln/>
        </p:spPr>
      </p:sp>
      <p:sp>
        <p:nvSpPr>
          <p:cNvPr id="24" name="Shape 22"/>
          <p:cNvSpPr/>
          <p:nvPr/>
        </p:nvSpPr>
        <p:spPr>
          <a:xfrm>
            <a:off x="10282428" y="2404872"/>
            <a:ext cx="512064" cy="512064"/>
          </a:xfrm>
          <a:prstGeom prst="ellipse">
            <a:avLst/>
          </a:prstGeom>
          <a:solidFill>
            <a:srgbClr val="E0A82E"/>
          </a:solidFill>
          <a:ln/>
        </p:spPr>
      </p:sp>
      <p:sp>
        <p:nvSpPr>
          <p:cNvPr id="25" name="Text 23"/>
          <p:cNvSpPr/>
          <p:nvPr/>
        </p:nvSpPr>
        <p:spPr>
          <a:xfrm>
            <a:off x="10282428" y="2404872"/>
            <a:ext cx="512064" cy="512064"/>
          </a:xfrm>
          <a:prstGeom prst="rect">
            <a:avLst/>
          </a:prstGeom>
          <a:noFill/>
          <a:ln/>
        </p:spPr>
        <p:txBody>
          <a:bodyPr wrap="square" rtlCol="0" anchor="ctr"/>
          <a:lstStyle/>
          <a:p>
            <a:pPr algn="ctr" indent="0" marL="0">
              <a:buNone/>
            </a:pPr>
            <a:r>
              <a:rPr lang="en-US" sz="1800" b="1" dirty="0">
                <a:solidFill>
                  <a:srgbClr val="201A17"/>
                </a:solidFill>
                <a:latin typeface="Calibri" pitchFamily="34" charset="0"/>
                <a:ea typeface="Calibri" pitchFamily="34" charset="-122"/>
                <a:cs typeface="Calibri" pitchFamily="34" charset="-120"/>
              </a:rPr>
              <a:t>4</a:t>
            </a:r>
            <a:endParaRPr lang="en-US" sz="1800" dirty="0"/>
          </a:p>
        </p:txBody>
      </p:sp>
      <p:sp>
        <p:nvSpPr>
          <p:cNvPr id="26" name="Text 24"/>
          <p:cNvSpPr/>
          <p:nvPr/>
        </p:nvSpPr>
        <p:spPr>
          <a:xfrm>
            <a:off x="9281160" y="2990088"/>
            <a:ext cx="2514600" cy="365760"/>
          </a:xfrm>
          <a:prstGeom prst="rect">
            <a:avLst/>
          </a:prstGeom>
          <a:noFill/>
          <a:ln/>
        </p:spPr>
        <p:txBody>
          <a:bodyPr wrap="square" rtlCol="0" anchor="ctr"/>
          <a:lstStyle/>
          <a:p>
            <a:pPr algn="ctr" indent="0" marL="0">
              <a:buNone/>
            </a:pPr>
            <a:r>
              <a:rPr lang="en-US" sz="2000" b="1" dirty="0">
                <a:solidFill>
                  <a:srgbClr val="F7F0E7"/>
                </a:solidFill>
                <a:latin typeface="Calibri" pitchFamily="34" charset="0"/>
                <a:ea typeface="Calibri" pitchFamily="34" charset="-122"/>
                <a:cs typeface="Calibri" pitchFamily="34" charset="-120"/>
              </a:rPr>
              <a:t>Read</a:t>
            </a:r>
            <a:endParaRPr lang="en-US" sz="2000" dirty="0"/>
          </a:p>
        </p:txBody>
      </p:sp>
      <p:sp>
        <p:nvSpPr>
          <p:cNvPr id="27" name="Text 25"/>
          <p:cNvSpPr/>
          <p:nvPr/>
        </p:nvSpPr>
        <p:spPr>
          <a:xfrm>
            <a:off x="9281160" y="3337560"/>
            <a:ext cx="2514600" cy="320040"/>
          </a:xfrm>
          <a:prstGeom prst="rect">
            <a:avLst/>
          </a:prstGeom>
          <a:noFill/>
          <a:ln/>
        </p:spPr>
        <p:txBody>
          <a:bodyPr wrap="square" rtlCol="0" anchor="ctr"/>
          <a:lstStyle/>
          <a:p>
            <a:pPr algn="ctr" indent="0" marL="0">
              <a:buNone/>
            </a:pPr>
            <a:r>
              <a:rPr lang="en-US" sz="1250" i="1" dirty="0">
                <a:solidFill>
                  <a:srgbClr val="B7A797"/>
                </a:solidFill>
                <a:latin typeface="Calibri" pitchFamily="34" charset="0"/>
                <a:ea typeface="Calibri" pitchFamily="34" charset="-122"/>
                <a:cs typeface="Calibri" pitchFamily="34" charset="-120"/>
              </a:rPr>
              <a:t>words &amp; prices</a:t>
            </a:r>
            <a:endParaRPr lang="en-US" sz="1250" dirty="0"/>
          </a:p>
        </p:txBody>
      </p:sp>
      <p:sp>
        <p:nvSpPr>
          <p:cNvPr id="28" name="Text 26"/>
          <p:cNvSpPr/>
          <p:nvPr/>
        </p:nvSpPr>
        <p:spPr>
          <a:xfrm>
            <a:off x="640080" y="3794760"/>
            <a:ext cx="10927080" cy="457200"/>
          </a:xfrm>
          <a:prstGeom prst="rect">
            <a:avLst/>
          </a:prstGeom>
          <a:noFill/>
          <a:ln/>
        </p:spPr>
        <p:txBody>
          <a:bodyPr wrap="square" rtlCol="0" anchor="ctr"/>
          <a:lstStyle/>
          <a:p>
            <a:pPr algn="ctr" indent="0" marL="0">
              <a:buNone/>
            </a:pPr>
            <a:r>
              <a:rPr lang="en-US" sz="2600" b="1" dirty="0">
                <a:solidFill>
                  <a:srgbClr val="F2820C"/>
                </a:solidFill>
                <a:latin typeface="Calibri" pitchFamily="34" charset="0"/>
                <a:ea typeface="Calibri" pitchFamily="34" charset="-122"/>
                <a:cs typeface="Calibri" pitchFamily="34" charset="-120"/>
              </a:rPr>
              <a:t>↓</a:t>
            </a:r>
            <a:endParaRPr lang="en-US" sz="2600" dirty="0"/>
          </a:p>
        </p:txBody>
      </p:sp>
      <p:sp>
        <p:nvSpPr>
          <p:cNvPr id="29" name="Shape 27"/>
          <p:cNvSpPr/>
          <p:nvPr/>
        </p:nvSpPr>
        <p:spPr>
          <a:xfrm>
            <a:off x="2194560" y="4251960"/>
            <a:ext cx="7818120" cy="960120"/>
          </a:xfrm>
          <a:prstGeom prst="roundRect">
            <a:avLst>
              <a:gd name="adj" fmla="val 11429"/>
            </a:avLst>
          </a:prstGeom>
          <a:solidFill>
            <a:srgbClr val="F2820C"/>
          </a:solidFill>
          <a:ln/>
        </p:spPr>
      </p:sp>
      <p:sp>
        <p:nvSpPr>
          <p:cNvPr id="30" name="Text 28"/>
          <p:cNvSpPr/>
          <p:nvPr/>
        </p:nvSpPr>
        <p:spPr>
          <a:xfrm>
            <a:off x="2194560" y="4251960"/>
            <a:ext cx="7818120" cy="960120"/>
          </a:xfrm>
          <a:prstGeom prst="rect">
            <a:avLst/>
          </a:prstGeom>
          <a:noFill/>
          <a:ln/>
        </p:spPr>
        <p:txBody>
          <a:bodyPr wrap="square" rtlCol="0" anchor="ctr"/>
          <a:lstStyle/>
          <a:p>
            <a:pPr algn="ctr" indent="0" marL="0">
              <a:buNone/>
            </a:pPr>
            <a:r>
              <a:rPr lang="en-US" sz="3000" b="1" spc="200" kern="0" dirty="0">
                <a:solidFill>
                  <a:srgbClr val="201A17"/>
                </a:solidFill>
                <a:latin typeface="Calibri" pitchFamily="34" charset="0"/>
                <a:ea typeface="Calibri" pitchFamily="34" charset="-122"/>
                <a:cs typeface="Calibri" pitchFamily="34" charset="-120"/>
              </a:rPr>
              <a:t>WHAT WE CHOOSE</a:t>
            </a:r>
            <a:endParaRPr lang="en-US" sz="3000" dirty="0"/>
          </a:p>
        </p:txBody>
      </p:sp>
      <p:sp>
        <p:nvSpPr>
          <p:cNvPr id="31" name="Text 29"/>
          <p:cNvSpPr/>
          <p:nvPr/>
        </p:nvSpPr>
        <p:spPr>
          <a:xfrm>
            <a:off x="640080" y="5440680"/>
            <a:ext cx="10927080" cy="548640"/>
          </a:xfrm>
          <a:prstGeom prst="rect">
            <a:avLst/>
          </a:prstGeom>
          <a:noFill/>
          <a:ln/>
        </p:spPr>
        <p:txBody>
          <a:bodyPr wrap="square" rtlCol="0" anchor="ctr"/>
          <a:lstStyle/>
          <a:p>
            <a:pPr algn="ctr" indent="0" marL="0">
              <a:buNone/>
            </a:pPr>
            <a:r>
              <a:rPr lang="en-US" sz="2100" b="1" dirty="0">
                <a:solidFill>
                  <a:srgbClr val="F7F0E7"/>
                </a:solidFill>
                <a:latin typeface="Calibri" pitchFamily="34" charset="0"/>
                <a:ea typeface="Calibri" pitchFamily="34" charset="-122"/>
                <a:cs typeface="Calibri" pitchFamily="34" charset="-120"/>
              </a:rPr>
              <a:t>Do we choose food… </a:t>
            </a:r>
            <a:pPr algn="ctr" indent="0" marL="0">
              <a:buNone/>
            </a:pPr>
            <a:r>
              <a:rPr lang="en-US" sz="2100" b="1" i="1" dirty="0">
                <a:solidFill>
                  <a:srgbClr val="F6A945"/>
                </a:solidFill>
                <a:latin typeface="Calibri" pitchFamily="34" charset="0"/>
                <a:ea typeface="Calibri" pitchFamily="34" charset="-122"/>
                <a:cs typeface="Calibri" pitchFamily="34" charset="-120"/>
              </a:rPr>
              <a:t>or does food influence our choices?</a:t>
            </a:r>
            <a:endParaRPr lang="en-US" sz="2100" dirty="0"/>
          </a:p>
        </p:txBody>
      </p:sp>
      <p:sp>
        <p:nvSpPr>
          <p:cNvPr id="32" name="Text 30"/>
          <p:cNvSpPr/>
          <p:nvPr/>
        </p:nvSpPr>
        <p:spPr>
          <a:xfrm>
            <a:off x="640080" y="6126480"/>
            <a:ext cx="10927080" cy="365760"/>
          </a:xfrm>
          <a:prstGeom prst="rect">
            <a:avLst/>
          </a:prstGeom>
          <a:noFill/>
          <a:ln/>
        </p:spPr>
        <p:txBody>
          <a:bodyPr wrap="square" rtlCol="0" anchor="ctr"/>
          <a:lstStyle/>
          <a:p>
            <a:pPr algn="ctr" indent="0" marL="0">
              <a:buNone/>
            </a:pPr>
            <a:r>
              <a:rPr lang="en-US" sz="1500" i="1" dirty="0">
                <a:solidFill>
                  <a:srgbClr val="8B7C6E"/>
                </a:solidFill>
                <a:latin typeface="Calibri" pitchFamily="34" charset="0"/>
                <a:ea typeface="Calibri" pitchFamily="34" charset="-122"/>
                <a:cs typeface="Calibri" pitchFamily="34" charset="-120"/>
              </a:rPr>
              <a:t>Thank you.  —  So… what are you craving right now?</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2026-08-24T19:55:05Z</dcterms:created>
  <dcterms:modified xsi:type="dcterms:W3CDTF">2026-08-24T19:55:05Z</dcterms:modified>
</cp:coreProperties>
</file>